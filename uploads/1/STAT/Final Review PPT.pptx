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56" r:id="rId2"/>
    <p:sldId id="294" r:id="rId3"/>
    <p:sldId id="259" r:id="rId4"/>
    <p:sldId id="260" r:id="rId5"/>
    <p:sldId id="271" r:id="rId6"/>
    <p:sldId id="291" r:id="rId7"/>
    <p:sldId id="273" r:id="rId8"/>
    <p:sldId id="262" r:id="rId9"/>
    <p:sldId id="274" r:id="rId10"/>
    <p:sldId id="288" r:id="rId11"/>
    <p:sldId id="275" r:id="rId12"/>
    <p:sldId id="276" r:id="rId13"/>
    <p:sldId id="277" r:id="rId14"/>
    <p:sldId id="279" r:id="rId15"/>
    <p:sldId id="280" r:id="rId16"/>
    <p:sldId id="281" r:id="rId17"/>
    <p:sldId id="282" r:id="rId18"/>
    <p:sldId id="283" r:id="rId19"/>
    <p:sldId id="284" r:id="rId20"/>
    <p:sldId id="285" r:id="rId21"/>
    <p:sldId id="292" r:id="rId22"/>
    <p:sldId id="313" r:id="rId23"/>
    <p:sldId id="314" r:id="rId24"/>
    <p:sldId id="315" r:id="rId25"/>
    <p:sldId id="316" r:id="rId26"/>
    <p:sldId id="317" r:id="rId27"/>
    <p:sldId id="297" r:id="rId28"/>
    <p:sldId id="299" r:id="rId29"/>
    <p:sldId id="300" r:id="rId30"/>
    <p:sldId id="301" r:id="rId31"/>
    <p:sldId id="302" r:id="rId32"/>
    <p:sldId id="308" r:id="rId33"/>
    <p:sldId id="309" r:id="rId34"/>
    <p:sldId id="310" r:id="rId35"/>
    <p:sldId id="303" r:id="rId36"/>
    <p:sldId id="312" r:id="rId37"/>
    <p:sldId id="304" r:id="rId38"/>
    <p:sldId id="306" r:id="rId39"/>
    <p:sldId id="307" r:id="rId40"/>
    <p:sldId id="311" r:id="rId41"/>
    <p:sldId id="266" r:id="rId42"/>
    <p:sldId id="296" r:id="rId4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L0tdY/vpqH006PEQ982Qk34tR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7F0BF2-E8C4-48FD-869A-E5701E133C67}" v="6" dt="2024-06-11T10:20:17.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65" autoAdjust="0"/>
    <p:restoredTop sz="95033" autoAdjust="0"/>
  </p:normalViewPr>
  <p:slideViewPr>
    <p:cSldViewPr snapToGrid="0">
      <p:cViewPr varScale="1">
        <p:scale>
          <a:sx n="82" d="100"/>
          <a:sy n="82" d="100"/>
        </p:scale>
        <p:origin x="893"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run kumar" userId="70918211579d6331" providerId="LiveId" clId="{F304A9AA-DBA5-40FF-87E0-EA82A55F7A5F}"/>
    <pc:docChg chg="undo custSel modSld">
      <pc:chgData name="tharun kumar" userId="70918211579d6331" providerId="LiveId" clId="{F304A9AA-DBA5-40FF-87E0-EA82A55F7A5F}" dt="2024-04-30T11:16:34.834" v="51" actId="1076"/>
      <pc:docMkLst>
        <pc:docMk/>
      </pc:docMkLst>
      <pc:sldChg chg="modSp mod">
        <pc:chgData name="tharun kumar" userId="70918211579d6331" providerId="LiveId" clId="{F304A9AA-DBA5-40FF-87E0-EA82A55F7A5F}" dt="2024-04-17T15:50:39.075" v="45" actId="5793"/>
        <pc:sldMkLst>
          <pc:docMk/>
          <pc:sldMk cId="3450444813" sldId="273"/>
        </pc:sldMkLst>
        <pc:spChg chg="mod">
          <ac:chgData name="tharun kumar" userId="70918211579d6331" providerId="LiveId" clId="{F304A9AA-DBA5-40FF-87E0-EA82A55F7A5F}" dt="2024-04-17T15:50:39.075" v="45" actId="5793"/>
          <ac:spMkLst>
            <pc:docMk/>
            <pc:sldMk cId="3450444813" sldId="273"/>
            <ac:spMk id="2" creationId="{929DF977-9125-72D7-54AA-5A470EEA989B}"/>
          </ac:spMkLst>
        </pc:spChg>
      </pc:sldChg>
      <pc:sldChg chg="modSp mod">
        <pc:chgData name="tharun kumar" userId="70918211579d6331" providerId="LiveId" clId="{F304A9AA-DBA5-40FF-87E0-EA82A55F7A5F}" dt="2024-04-17T15:44:42.142" v="21" actId="20577"/>
        <pc:sldMkLst>
          <pc:docMk/>
          <pc:sldMk cId="308971819" sldId="277"/>
        </pc:sldMkLst>
        <pc:spChg chg="mod">
          <ac:chgData name="tharun kumar" userId="70918211579d6331" providerId="LiveId" clId="{F304A9AA-DBA5-40FF-87E0-EA82A55F7A5F}" dt="2024-04-17T15:44:42.142" v="21" actId="20577"/>
          <ac:spMkLst>
            <pc:docMk/>
            <pc:sldMk cId="308971819" sldId="277"/>
            <ac:spMk id="3" creationId="{4B740AAC-39D8-5F1B-E793-E5BD910ACAB9}"/>
          </ac:spMkLst>
        </pc:spChg>
      </pc:sldChg>
      <pc:sldChg chg="addSp delSp modSp mod">
        <pc:chgData name="tharun kumar" userId="70918211579d6331" providerId="LiveId" clId="{F304A9AA-DBA5-40FF-87E0-EA82A55F7A5F}" dt="2024-04-30T11:16:34.834" v="51" actId="1076"/>
        <pc:sldMkLst>
          <pc:docMk/>
          <pc:sldMk cId="3141100589" sldId="280"/>
        </pc:sldMkLst>
        <pc:picChg chg="del">
          <ac:chgData name="tharun kumar" userId="70918211579d6331" providerId="LiveId" clId="{F304A9AA-DBA5-40FF-87E0-EA82A55F7A5F}" dt="2024-04-30T11:16:19.692" v="48" actId="478"/>
          <ac:picMkLst>
            <pc:docMk/>
            <pc:sldMk cId="3141100589" sldId="280"/>
            <ac:picMk id="6" creationId="{F1C1CBD6-637E-EB1A-B4F7-51D7F7B8B051}"/>
          </ac:picMkLst>
        </pc:picChg>
        <pc:picChg chg="add mod">
          <ac:chgData name="tharun kumar" userId="70918211579d6331" providerId="LiveId" clId="{F304A9AA-DBA5-40FF-87E0-EA82A55F7A5F}" dt="2024-04-30T11:16:34.834" v="51" actId="1076"/>
          <ac:picMkLst>
            <pc:docMk/>
            <pc:sldMk cId="3141100589" sldId="280"/>
            <ac:picMk id="9" creationId="{42A4BD59-E23E-B680-D729-4D1E00A3EE25}"/>
          </ac:picMkLst>
        </pc:picChg>
      </pc:sldChg>
      <pc:sldChg chg="modSp mod">
        <pc:chgData name="tharun kumar" userId="70918211579d6331" providerId="LiveId" clId="{F304A9AA-DBA5-40FF-87E0-EA82A55F7A5F}" dt="2024-04-27T08:59:33.998" v="47" actId="1035"/>
        <pc:sldMkLst>
          <pc:docMk/>
          <pc:sldMk cId="1402956545" sldId="308"/>
        </pc:sldMkLst>
        <pc:picChg chg="mod">
          <ac:chgData name="tharun kumar" userId="70918211579d6331" providerId="LiveId" clId="{F304A9AA-DBA5-40FF-87E0-EA82A55F7A5F}" dt="2024-04-27T08:59:33.998" v="47" actId="1035"/>
          <ac:picMkLst>
            <pc:docMk/>
            <pc:sldMk cId="1402956545" sldId="308"/>
            <ac:picMk id="3" creationId="{87CFB64E-C399-18CC-9DA3-324BDBC13725}"/>
          </ac:picMkLst>
        </pc:picChg>
      </pc:sldChg>
    </pc:docChg>
  </pc:docChgLst>
  <pc:docChgLst>
    <pc:chgData name="tharun kumar" userId="70918211579d6331" providerId="LiveId" clId="{827F0BF2-E8C4-48FD-869A-E5701E133C67}"/>
    <pc:docChg chg="undo custSel addSld delSld modSld">
      <pc:chgData name="tharun kumar" userId="70918211579d6331" providerId="LiveId" clId="{827F0BF2-E8C4-48FD-869A-E5701E133C67}" dt="2024-06-11T10:39:33.991" v="1607" actId="20577"/>
      <pc:docMkLst>
        <pc:docMk/>
      </pc:docMkLst>
      <pc:sldChg chg="modSp mod">
        <pc:chgData name="tharun kumar" userId="70918211579d6331" providerId="LiveId" clId="{827F0BF2-E8C4-48FD-869A-E5701E133C67}" dt="2024-06-11T09:18:29.441" v="1" actId="20577"/>
        <pc:sldMkLst>
          <pc:docMk/>
          <pc:sldMk cId="0" sldId="256"/>
        </pc:sldMkLst>
        <pc:spChg chg="mod">
          <ac:chgData name="tharun kumar" userId="70918211579d6331" providerId="LiveId" clId="{827F0BF2-E8C4-48FD-869A-E5701E133C67}" dt="2024-06-11T09:18:29.441" v="1" actId="20577"/>
          <ac:spMkLst>
            <pc:docMk/>
            <pc:sldMk cId="0" sldId="256"/>
            <ac:spMk id="88" creationId="{00000000-0000-0000-0000-000000000000}"/>
          </ac:spMkLst>
        </pc:spChg>
      </pc:sldChg>
      <pc:sldChg chg="modSp mod">
        <pc:chgData name="tharun kumar" userId="70918211579d6331" providerId="LiveId" clId="{827F0BF2-E8C4-48FD-869A-E5701E133C67}" dt="2024-06-11T09:44:49.423" v="632" actId="20577"/>
        <pc:sldMkLst>
          <pc:docMk/>
          <pc:sldMk cId="0" sldId="259"/>
        </pc:sldMkLst>
        <pc:spChg chg="mod">
          <ac:chgData name="tharun kumar" userId="70918211579d6331" providerId="LiveId" clId="{827F0BF2-E8C4-48FD-869A-E5701E133C67}" dt="2024-06-11T09:44:49.423" v="632" actId="20577"/>
          <ac:spMkLst>
            <pc:docMk/>
            <pc:sldMk cId="0" sldId="259"/>
            <ac:spMk id="2" creationId="{AD3EF060-E8BD-078B-ADB8-CF5B6A0A6EA9}"/>
          </ac:spMkLst>
        </pc:spChg>
      </pc:sldChg>
      <pc:sldChg chg="addSp delSp modSp mod">
        <pc:chgData name="tharun kumar" userId="70918211579d6331" providerId="LiveId" clId="{827F0BF2-E8C4-48FD-869A-E5701E133C67}" dt="2024-06-11T10:38:05.212" v="1577" actId="20577"/>
        <pc:sldMkLst>
          <pc:docMk/>
          <pc:sldMk cId="0" sldId="266"/>
        </pc:sldMkLst>
        <pc:spChg chg="add del mod">
          <ac:chgData name="tharun kumar" userId="70918211579d6331" providerId="LiveId" clId="{827F0BF2-E8C4-48FD-869A-E5701E133C67}" dt="2024-06-11T10:38:05.212" v="1577" actId="20577"/>
          <ac:spMkLst>
            <pc:docMk/>
            <pc:sldMk cId="0" sldId="266"/>
            <ac:spMk id="3" creationId="{BCCBE868-4FE9-BAF1-6D72-B415EB113F1D}"/>
          </ac:spMkLst>
        </pc:spChg>
      </pc:sldChg>
      <pc:sldChg chg="modSp mod">
        <pc:chgData name="tharun kumar" userId="70918211579d6331" providerId="LiveId" clId="{827F0BF2-E8C4-48FD-869A-E5701E133C67}" dt="2024-06-11T10:09:20.984" v="990" actId="20577"/>
        <pc:sldMkLst>
          <pc:docMk/>
          <pc:sldMk cId="3450444813" sldId="273"/>
        </pc:sldMkLst>
        <pc:spChg chg="mod">
          <ac:chgData name="tharun kumar" userId="70918211579d6331" providerId="LiveId" clId="{827F0BF2-E8C4-48FD-869A-E5701E133C67}" dt="2024-06-11T10:09:20.984" v="990" actId="20577"/>
          <ac:spMkLst>
            <pc:docMk/>
            <pc:sldMk cId="3450444813" sldId="273"/>
            <ac:spMk id="2" creationId="{929DF977-9125-72D7-54AA-5A470EEA989B}"/>
          </ac:spMkLst>
        </pc:spChg>
      </pc:sldChg>
      <pc:sldChg chg="modSp mod">
        <pc:chgData name="tharun kumar" userId="70918211579d6331" providerId="LiveId" clId="{827F0BF2-E8C4-48FD-869A-E5701E133C67}" dt="2024-06-11T10:10:44.077" v="1165" actId="20577"/>
        <pc:sldMkLst>
          <pc:docMk/>
          <pc:sldMk cId="2829647468" sldId="275"/>
        </pc:sldMkLst>
        <pc:spChg chg="mod">
          <ac:chgData name="tharun kumar" userId="70918211579d6331" providerId="LiveId" clId="{827F0BF2-E8C4-48FD-869A-E5701E133C67}" dt="2024-06-11T10:10:44.077" v="1165" actId="20577"/>
          <ac:spMkLst>
            <pc:docMk/>
            <pc:sldMk cId="2829647468" sldId="275"/>
            <ac:spMk id="3" creationId="{E322D515-597E-28F9-4011-200B3043F18E}"/>
          </ac:spMkLst>
        </pc:spChg>
      </pc:sldChg>
      <pc:sldChg chg="delSp modSp mod">
        <pc:chgData name="tharun kumar" userId="70918211579d6331" providerId="LiveId" clId="{827F0BF2-E8C4-48FD-869A-E5701E133C67}" dt="2024-06-11T10:13:42.503" v="1177" actId="113"/>
        <pc:sldMkLst>
          <pc:docMk/>
          <pc:sldMk cId="1345592454" sldId="276"/>
        </pc:sldMkLst>
        <pc:spChg chg="mod">
          <ac:chgData name="tharun kumar" userId="70918211579d6331" providerId="LiveId" clId="{827F0BF2-E8C4-48FD-869A-E5701E133C67}" dt="2024-06-11T10:13:42.503" v="1177" actId="113"/>
          <ac:spMkLst>
            <pc:docMk/>
            <pc:sldMk cId="1345592454" sldId="276"/>
            <ac:spMk id="3" creationId="{EFB0703C-E948-AEDF-EF98-DA771BCE6E6D}"/>
          </ac:spMkLst>
        </pc:spChg>
        <pc:picChg chg="del">
          <ac:chgData name="tharun kumar" userId="70918211579d6331" providerId="LiveId" clId="{827F0BF2-E8C4-48FD-869A-E5701E133C67}" dt="2024-06-11T10:12:43.832" v="1167" actId="478"/>
          <ac:picMkLst>
            <pc:docMk/>
            <pc:sldMk cId="1345592454" sldId="276"/>
            <ac:picMk id="7" creationId="{E36A9C1F-1A18-FDF3-15C3-2F155AD9A21C}"/>
          </ac:picMkLst>
        </pc:picChg>
      </pc:sldChg>
      <pc:sldChg chg="modSp mod">
        <pc:chgData name="tharun kumar" userId="70918211579d6331" providerId="LiveId" clId="{827F0BF2-E8C4-48FD-869A-E5701E133C67}" dt="2024-06-11T10:39:33.991" v="1607" actId="20577"/>
        <pc:sldMkLst>
          <pc:docMk/>
          <pc:sldMk cId="308971819" sldId="277"/>
        </pc:sldMkLst>
        <pc:spChg chg="mod">
          <ac:chgData name="tharun kumar" userId="70918211579d6331" providerId="LiveId" clId="{827F0BF2-E8C4-48FD-869A-E5701E133C67}" dt="2024-06-11T10:39:33.991" v="1607" actId="20577"/>
          <ac:spMkLst>
            <pc:docMk/>
            <pc:sldMk cId="308971819" sldId="277"/>
            <ac:spMk id="3" creationId="{4B740AAC-39D8-5F1B-E793-E5BD910ACAB9}"/>
          </ac:spMkLst>
        </pc:spChg>
      </pc:sldChg>
      <pc:sldChg chg="del">
        <pc:chgData name="tharun kumar" userId="70918211579d6331" providerId="LiveId" clId="{827F0BF2-E8C4-48FD-869A-E5701E133C67}" dt="2024-06-11T10:15:23.971" v="1206" actId="2696"/>
        <pc:sldMkLst>
          <pc:docMk/>
          <pc:sldMk cId="1359081982" sldId="278"/>
        </pc:sldMkLst>
      </pc:sldChg>
      <pc:sldChg chg="modSp mod">
        <pc:chgData name="tharun kumar" userId="70918211579d6331" providerId="LiveId" clId="{827F0BF2-E8C4-48FD-869A-E5701E133C67}" dt="2024-06-11T10:16:51.511" v="1239" actId="20577"/>
        <pc:sldMkLst>
          <pc:docMk/>
          <pc:sldMk cId="1236510958" sldId="279"/>
        </pc:sldMkLst>
        <pc:spChg chg="mod">
          <ac:chgData name="tharun kumar" userId="70918211579d6331" providerId="LiveId" clId="{827F0BF2-E8C4-48FD-869A-E5701E133C67}" dt="2024-06-11T10:16:51.511" v="1239" actId="20577"/>
          <ac:spMkLst>
            <pc:docMk/>
            <pc:sldMk cId="1236510958" sldId="279"/>
            <ac:spMk id="3" creationId="{D1916B24-EA5F-1ABD-3942-DC1B565BDD5A}"/>
          </ac:spMkLst>
        </pc:spChg>
      </pc:sldChg>
      <pc:sldChg chg="modSp mod">
        <pc:chgData name="tharun kumar" userId="70918211579d6331" providerId="LiveId" clId="{827F0BF2-E8C4-48FD-869A-E5701E133C67}" dt="2024-06-11T09:58:12.681" v="696" actId="20577"/>
        <pc:sldMkLst>
          <pc:docMk/>
          <pc:sldMk cId="333197778" sldId="288"/>
        </pc:sldMkLst>
        <pc:spChg chg="mod">
          <ac:chgData name="tharun kumar" userId="70918211579d6331" providerId="LiveId" clId="{827F0BF2-E8C4-48FD-869A-E5701E133C67}" dt="2024-06-11T09:58:12.681" v="696" actId="20577"/>
          <ac:spMkLst>
            <pc:docMk/>
            <pc:sldMk cId="333197778" sldId="288"/>
            <ac:spMk id="5" creationId="{CDFD8D59-39A3-D5D5-8E95-8FA8F8159CCF}"/>
          </ac:spMkLst>
        </pc:spChg>
      </pc:sldChg>
      <pc:sldChg chg="del">
        <pc:chgData name="tharun kumar" userId="70918211579d6331" providerId="LiveId" clId="{827F0BF2-E8C4-48FD-869A-E5701E133C67}" dt="2024-06-11T10:11:30.541" v="1166" actId="2696"/>
        <pc:sldMkLst>
          <pc:docMk/>
          <pc:sldMk cId="3191524451" sldId="290"/>
        </pc:sldMkLst>
      </pc:sldChg>
      <pc:sldChg chg="modSp mod">
        <pc:chgData name="tharun kumar" userId="70918211579d6331" providerId="LiveId" clId="{827F0BF2-E8C4-48FD-869A-E5701E133C67}" dt="2024-06-11T09:33:53.884" v="576" actId="5793"/>
        <pc:sldMkLst>
          <pc:docMk/>
          <pc:sldMk cId="888184278" sldId="291"/>
        </pc:sldMkLst>
        <pc:spChg chg="mod">
          <ac:chgData name="tharun kumar" userId="70918211579d6331" providerId="LiveId" clId="{827F0BF2-E8C4-48FD-869A-E5701E133C67}" dt="2024-06-11T09:33:53.884" v="576" actId="5793"/>
          <ac:spMkLst>
            <pc:docMk/>
            <pc:sldMk cId="888184278" sldId="291"/>
            <ac:spMk id="9" creationId="{33E1C70C-60B9-0CF3-A360-AD1CBED8140B}"/>
          </ac:spMkLst>
        </pc:spChg>
      </pc:sldChg>
      <pc:sldChg chg="addSp modSp add mod">
        <pc:chgData name="tharun kumar" userId="70918211579d6331" providerId="LiveId" clId="{827F0BF2-E8C4-48FD-869A-E5701E133C67}" dt="2024-06-11T10:27:34.401" v="1533" actId="113"/>
        <pc:sldMkLst>
          <pc:docMk/>
          <pc:sldMk cId="936801290" sldId="317"/>
        </pc:sldMkLst>
        <pc:spChg chg="add">
          <ac:chgData name="tharun kumar" userId="70918211579d6331" providerId="LiveId" clId="{827F0BF2-E8C4-48FD-869A-E5701E133C67}" dt="2024-06-11T10:20:00.079" v="1285"/>
          <ac:spMkLst>
            <pc:docMk/>
            <pc:sldMk cId="936801290" sldId="317"/>
            <ac:spMk id="3" creationId="{75E5160D-4853-B24C-9DD5-DB495C4545E8}"/>
          </ac:spMkLst>
        </pc:spChg>
        <pc:spChg chg="add">
          <ac:chgData name="tharun kumar" userId="70918211579d6331" providerId="LiveId" clId="{827F0BF2-E8C4-48FD-869A-E5701E133C67}" dt="2024-06-11T10:20:10.150" v="1287"/>
          <ac:spMkLst>
            <pc:docMk/>
            <pc:sldMk cId="936801290" sldId="317"/>
            <ac:spMk id="9" creationId="{619E07F7-C78B-A0B4-7348-D148927B8F86}"/>
          </ac:spMkLst>
        </pc:spChg>
        <pc:spChg chg="mod">
          <ac:chgData name="tharun kumar" userId="70918211579d6331" providerId="LiveId" clId="{827F0BF2-E8C4-48FD-869A-E5701E133C67}" dt="2024-06-11T10:27:34.401" v="1533" actId="113"/>
          <ac:spMkLst>
            <pc:docMk/>
            <pc:sldMk cId="936801290" sldId="317"/>
            <ac:spMk id="10" creationId="{BC1AD0A8-47DE-0322-F78D-4926BDF621B8}"/>
          </ac:spMkLst>
        </pc:spChg>
        <pc:spChg chg="add">
          <ac:chgData name="tharun kumar" userId="70918211579d6331" providerId="LiveId" clId="{827F0BF2-E8C4-48FD-869A-E5701E133C67}" dt="2024-06-11T10:20:16.070" v="1290"/>
          <ac:spMkLst>
            <pc:docMk/>
            <pc:sldMk cId="936801290" sldId="317"/>
            <ac:spMk id="11" creationId="{DC55189A-DAA4-0D5F-8524-7EDF22E7E02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4993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a788f1400f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8" name="Google Shape;138;g2a788f1400f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9687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7" name="Google Shape;14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2F247E2E-B3F8-5607-8B8E-80D829C110A8}"/>
            </a:ext>
          </a:extLst>
        </p:cNvPr>
        <p:cNvGrpSpPr/>
        <p:nvPr/>
      </p:nvGrpSpPr>
      <p:grpSpPr>
        <a:xfrm>
          <a:off x="0" y="0"/>
          <a:ext cx="0" cy="0"/>
          <a:chOff x="0" y="0"/>
          <a:chExt cx="0" cy="0"/>
        </a:xfrm>
      </p:grpSpPr>
      <p:sp>
        <p:nvSpPr>
          <p:cNvPr id="175" name="Google Shape;175;g2a788f1400f_0_17:notes">
            <a:extLst>
              <a:ext uri="{FF2B5EF4-FFF2-40B4-BE49-F238E27FC236}">
                <a16:creationId xmlns:a16="http://schemas.microsoft.com/office/drawing/2014/main" id="{50613BC5-6196-C5C7-F2D8-80E3C0D84FF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g2a788f1400f_0_17:notes">
            <a:extLst>
              <a:ext uri="{FF2B5EF4-FFF2-40B4-BE49-F238E27FC236}">
                <a16:creationId xmlns:a16="http://schemas.microsoft.com/office/drawing/2014/main" id="{43EE3235-A0DF-2181-ED09-247A3EC83A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274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D844AEE6-809C-9CA7-4703-4077BAD2075B}"/>
            </a:ext>
          </a:extLst>
        </p:cNvPr>
        <p:cNvGrpSpPr/>
        <p:nvPr/>
      </p:nvGrpSpPr>
      <p:grpSpPr>
        <a:xfrm>
          <a:off x="0" y="0"/>
          <a:ext cx="0" cy="0"/>
          <a:chOff x="0" y="0"/>
          <a:chExt cx="0" cy="0"/>
        </a:xfrm>
      </p:grpSpPr>
      <p:sp>
        <p:nvSpPr>
          <p:cNvPr id="184" name="Google Shape;184;p9:notes">
            <a:extLst>
              <a:ext uri="{FF2B5EF4-FFF2-40B4-BE49-F238E27FC236}">
                <a16:creationId xmlns:a16="http://schemas.microsoft.com/office/drawing/2014/main" id="{E0D1D19B-D850-5899-7C12-F38BA74DC2A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9:notes">
            <a:extLst>
              <a:ext uri="{FF2B5EF4-FFF2-40B4-BE49-F238E27FC236}">
                <a16:creationId xmlns:a16="http://schemas.microsoft.com/office/drawing/2014/main" id="{560BC1AC-1DB5-99C3-821C-25AEA64703A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777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i="0" u="none" strike="noStrike" cap="none">
                <a:solidFill>
                  <a:srgbClr val="888888"/>
                </a:solidFill>
                <a:latin typeface="Arial"/>
                <a:ea typeface="Arial"/>
                <a:cs typeface="Arial"/>
                <a:sym typeface="Arial"/>
              </a:defRPr>
            </a:lvl1pPr>
            <a:lvl2pPr marL="0" marR="0" lvl="1" indent="0" algn="r">
              <a:spcBef>
                <a:spcPts val="0"/>
              </a:spcBef>
              <a:spcAft>
                <a:spcPts val="0"/>
              </a:spcAft>
              <a:buNone/>
              <a:defRPr sz="1200" b="1" i="0" u="none" strike="noStrike" cap="none">
                <a:solidFill>
                  <a:srgbClr val="888888"/>
                </a:solidFill>
                <a:latin typeface="Arial"/>
                <a:ea typeface="Arial"/>
                <a:cs typeface="Arial"/>
                <a:sym typeface="Arial"/>
              </a:defRPr>
            </a:lvl2pPr>
            <a:lvl3pPr marL="0" marR="0" lvl="2" indent="0" algn="r">
              <a:spcBef>
                <a:spcPts val="0"/>
              </a:spcBef>
              <a:spcAft>
                <a:spcPts val="0"/>
              </a:spcAft>
              <a:buNone/>
              <a:defRPr sz="1200" b="1" i="0" u="none" strike="noStrike" cap="none">
                <a:solidFill>
                  <a:srgbClr val="888888"/>
                </a:solidFill>
                <a:latin typeface="Arial"/>
                <a:ea typeface="Arial"/>
                <a:cs typeface="Arial"/>
                <a:sym typeface="Arial"/>
              </a:defRPr>
            </a:lvl3pPr>
            <a:lvl4pPr marL="0" marR="0" lvl="3" indent="0" algn="r">
              <a:spcBef>
                <a:spcPts val="0"/>
              </a:spcBef>
              <a:spcAft>
                <a:spcPts val="0"/>
              </a:spcAft>
              <a:buNone/>
              <a:defRPr sz="1200" b="1" i="0" u="none" strike="noStrike" cap="none">
                <a:solidFill>
                  <a:srgbClr val="888888"/>
                </a:solidFill>
                <a:latin typeface="Arial"/>
                <a:ea typeface="Arial"/>
                <a:cs typeface="Arial"/>
                <a:sym typeface="Arial"/>
              </a:defRPr>
            </a:lvl4pPr>
            <a:lvl5pPr marL="0" marR="0" lvl="4" indent="0" algn="r">
              <a:spcBef>
                <a:spcPts val="0"/>
              </a:spcBef>
              <a:spcAft>
                <a:spcPts val="0"/>
              </a:spcAft>
              <a:buNone/>
              <a:defRPr sz="1200" b="1" i="0" u="none" strike="noStrike" cap="none">
                <a:solidFill>
                  <a:srgbClr val="888888"/>
                </a:solidFill>
                <a:latin typeface="Arial"/>
                <a:ea typeface="Arial"/>
                <a:cs typeface="Arial"/>
                <a:sym typeface="Arial"/>
              </a:defRPr>
            </a:lvl5pPr>
            <a:lvl6pPr marL="0" marR="0" lvl="5" indent="0" algn="r">
              <a:spcBef>
                <a:spcPts val="0"/>
              </a:spcBef>
              <a:spcAft>
                <a:spcPts val="0"/>
              </a:spcAft>
              <a:buNone/>
              <a:defRPr sz="1200" b="1" i="0" u="none" strike="noStrike" cap="none">
                <a:solidFill>
                  <a:srgbClr val="888888"/>
                </a:solidFill>
                <a:latin typeface="Arial"/>
                <a:ea typeface="Arial"/>
                <a:cs typeface="Arial"/>
                <a:sym typeface="Arial"/>
              </a:defRPr>
            </a:lvl6pPr>
            <a:lvl7pPr marL="0" marR="0" lvl="6" indent="0" algn="r">
              <a:spcBef>
                <a:spcPts val="0"/>
              </a:spcBef>
              <a:spcAft>
                <a:spcPts val="0"/>
              </a:spcAft>
              <a:buNone/>
              <a:defRPr sz="1200" b="1" i="0" u="none" strike="noStrike" cap="none">
                <a:solidFill>
                  <a:srgbClr val="888888"/>
                </a:solidFill>
                <a:latin typeface="Arial"/>
                <a:ea typeface="Arial"/>
                <a:cs typeface="Arial"/>
                <a:sym typeface="Arial"/>
              </a:defRPr>
            </a:lvl7pPr>
            <a:lvl8pPr marL="0" marR="0" lvl="7" indent="0" algn="r">
              <a:spcBef>
                <a:spcPts val="0"/>
              </a:spcBef>
              <a:spcAft>
                <a:spcPts val="0"/>
              </a:spcAft>
              <a:buNone/>
              <a:defRPr sz="1200" b="1" i="0" u="none" strike="noStrike" cap="none">
                <a:solidFill>
                  <a:srgbClr val="888888"/>
                </a:solidFill>
                <a:latin typeface="Arial"/>
                <a:ea typeface="Arial"/>
                <a:cs typeface="Arial"/>
                <a:sym typeface="Arial"/>
              </a:defRPr>
            </a:lvl8pPr>
            <a:lvl9pPr marL="0" marR="0" lvl="8" indent="0" algn="r">
              <a:spcBef>
                <a:spcPts val="0"/>
              </a:spcBef>
              <a:spcAft>
                <a:spcPts val="0"/>
              </a:spcAft>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9"/>
          <p:cNvSpPr>
            <a:spLocks noGrp="1"/>
          </p:cNvSpPr>
          <p:nvPr>
            <p:ph type="pic" idx="2"/>
          </p:nvPr>
        </p:nvSpPr>
        <p:spPr>
          <a:xfrm>
            <a:off x="1792288" y="612775"/>
            <a:ext cx="5486400" cy="4114800"/>
          </a:xfrm>
          <a:prstGeom prst="rect">
            <a:avLst/>
          </a:prstGeom>
          <a:noFill/>
          <a:ln>
            <a:noFill/>
          </a:ln>
        </p:spPr>
      </p:sp>
      <p:sp>
        <p:nvSpPr>
          <p:cNvPr id="68" name="Google Shape;68;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1">
                <a:solidFill>
                  <a:srgbClr val="888888"/>
                </a:solidFill>
                <a:latin typeface="Arial"/>
                <a:ea typeface="Arial"/>
                <a:cs typeface="Arial"/>
                <a:sym typeface="Arial"/>
              </a:defRPr>
            </a:lvl1pPr>
            <a:lvl2pPr marL="0" marR="0" lvl="1" indent="0" algn="r">
              <a:spcBef>
                <a:spcPts val="0"/>
              </a:spcBef>
              <a:spcAft>
                <a:spcPts val="0"/>
              </a:spcAft>
              <a:buNone/>
              <a:defRPr sz="1200" b="1">
                <a:solidFill>
                  <a:srgbClr val="888888"/>
                </a:solidFill>
                <a:latin typeface="Arial"/>
                <a:ea typeface="Arial"/>
                <a:cs typeface="Arial"/>
                <a:sym typeface="Arial"/>
              </a:defRPr>
            </a:lvl2pPr>
            <a:lvl3pPr marL="0" marR="0" lvl="2" indent="0" algn="r">
              <a:spcBef>
                <a:spcPts val="0"/>
              </a:spcBef>
              <a:spcAft>
                <a:spcPts val="0"/>
              </a:spcAft>
              <a:buNone/>
              <a:defRPr sz="1200" b="1">
                <a:solidFill>
                  <a:srgbClr val="888888"/>
                </a:solidFill>
                <a:latin typeface="Arial"/>
                <a:ea typeface="Arial"/>
                <a:cs typeface="Arial"/>
                <a:sym typeface="Arial"/>
              </a:defRPr>
            </a:lvl3pPr>
            <a:lvl4pPr marL="0" marR="0" lvl="3" indent="0" algn="r">
              <a:spcBef>
                <a:spcPts val="0"/>
              </a:spcBef>
              <a:spcAft>
                <a:spcPts val="0"/>
              </a:spcAft>
              <a:buNone/>
              <a:defRPr sz="1200" b="1">
                <a:solidFill>
                  <a:srgbClr val="888888"/>
                </a:solidFill>
                <a:latin typeface="Arial"/>
                <a:ea typeface="Arial"/>
                <a:cs typeface="Arial"/>
                <a:sym typeface="Arial"/>
              </a:defRPr>
            </a:lvl4pPr>
            <a:lvl5pPr marL="0" marR="0" lvl="4" indent="0" algn="r">
              <a:spcBef>
                <a:spcPts val="0"/>
              </a:spcBef>
              <a:spcAft>
                <a:spcPts val="0"/>
              </a:spcAft>
              <a:buNone/>
              <a:defRPr sz="1200" b="1">
                <a:solidFill>
                  <a:srgbClr val="888888"/>
                </a:solidFill>
                <a:latin typeface="Arial"/>
                <a:ea typeface="Arial"/>
                <a:cs typeface="Arial"/>
                <a:sym typeface="Arial"/>
              </a:defRPr>
            </a:lvl5pPr>
            <a:lvl6pPr marL="0" marR="0" lvl="5" indent="0" algn="r">
              <a:spcBef>
                <a:spcPts val="0"/>
              </a:spcBef>
              <a:spcAft>
                <a:spcPts val="0"/>
              </a:spcAft>
              <a:buNone/>
              <a:defRPr sz="1200" b="1">
                <a:solidFill>
                  <a:srgbClr val="888888"/>
                </a:solidFill>
                <a:latin typeface="Arial"/>
                <a:ea typeface="Arial"/>
                <a:cs typeface="Arial"/>
                <a:sym typeface="Arial"/>
              </a:defRPr>
            </a:lvl6pPr>
            <a:lvl7pPr marL="0" marR="0" lvl="6" indent="0" algn="r">
              <a:spcBef>
                <a:spcPts val="0"/>
              </a:spcBef>
              <a:spcAft>
                <a:spcPts val="0"/>
              </a:spcAft>
              <a:buNone/>
              <a:defRPr sz="1200" b="1">
                <a:solidFill>
                  <a:srgbClr val="888888"/>
                </a:solidFill>
                <a:latin typeface="Arial"/>
                <a:ea typeface="Arial"/>
                <a:cs typeface="Arial"/>
                <a:sym typeface="Arial"/>
              </a:defRPr>
            </a:lvl7pPr>
            <a:lvl8pPr marL="0" marR="0" lvl="7" indent="0" algn="r">
              <a:spcBef>
                <a:spcPts val="0"/>
              </a:spcBef>
              <a:spcAft>
                <a:spcPts val="0"/>
              </a:spcAft>
              <a:buNone/>
              <a:defRPr sz="1200" b="1">
                <a:solidFill>
                  <a:srgbClr val="888888"/>
                </a:solidFill>
                <a:latin typeface="Arial"/>
                <a:ea typeface="Arial"/>
                <a:cs typeface="Arial"/>
                <a:sym typeface="Arial"/>
              </a:defRPr>
            </a:lvl8pPr>
            <a:lvl9pPr marL="0" marR="0" lvl="8" indent="0" algn="r">
              <a:spcBef>
                <a:spcPts val="0"/>
              </a:spcBef>
              <a:spcAft>
                <a:spcPts val="0"/>
              </a:spcAft>
              <a:buNone/>
              <a:defRPr sz="1200" b="1">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1200" b="1"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1200" b="1"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1200" b="1"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1200" b="1"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1200" b="1"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1200" b="1"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1200" b="1"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en-US"/>
              <a:t>1.</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0" y="823697"/>
            <a:ext cx="9144000" cy="461665"/>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Cambria"/>
                <a:ea typeface="Cambria"/>
                <a:cs typeface="Cambria"/>
                <a:sym typeface="Cambria"/>
              </a:rPr>
              <a:t>Major Project  Review </a:t>
            </a:r>
            <a:endParaRPr dirty="0"/>
          </a:p>
        </p:txBody>
      </p:sp>
      <p:pic>
        <p:nvPicPr>
          <p:cNvPr id="89" name="Google Shape;89;p1" descr="logo.png"/>
          <p:cNvPicPr preferRelativeResize="0"/>
          <p:nvPr/>
        </p:nvPicPr>
        <p:blipFill rotWithShape="1">
          <a:blip r:embed="rId3">
            <a:alphaModFix/>
          </a:blip>
          <a:srcRect/>
          <a:stretch/>
        </p:blipFill>
        <p:spPr>
          <a:xfrm>
            <a:off x="311285" y="-42893"/>
            <a:ext cx="1060571" cy="866590"/>
          </a:xfrm>
          <a:prstGeom prst="rect">
            <a:avLst/>
          </a:prstGeom>
          <a:noFill/>
          <a:ln>
            <a:noFill/>
          </a:ln>
        </p:spPr>
      </p:pic>
      <p:pic>
        <p:nvPicPr>
          <p:cNvPr id="90" name="Google Shape;90;p1"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91" name="Google Shape;91;p1"/>
          <p:cNvSpPr txBox="1"/>
          <p:nvPr/>
        </p:nvSpPr>
        <p:spPr>
          <a:xfrm>
            <a:off x="585788" y="3575748"/>
            <a:ext cx="837870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chemeClr val="dk1"/>
                </a:solidFill>
                <a:latin typeface="Calibri"/>
                <a:ea typeface="Calibri"/>
                <a:cs typeface="Calibri"/>
                <a:sym typeface="Calibri"/>
              </a:rPr>
              <a:t>Project Guide : Mrs. B Sonal, Assistant professor </a:t>
            </a:r>
            <a:endParaRPr dirty="0"/>
          </a:p>
        </p:txBody>
      </p:sp>
      <p:sp>
        <p:nvSpPr>
          <p:cNvPr id="93" name="Google Shape;93;p1"/>
          <p:cNvSpPr txBox="1"/>
          <p:nvPr/>
        </p:nvSpPr>
        <p:spPr>
          <a:xfrm>
            <a:off x="55417" y="91324"/>
            <a:ext cx="6912768"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sp>
        <p:nvSpPr>
          <p:cNvPr id="94" name="Google Shape;94;p1"/>
          <p:cNvSpPr txBox="1"/>
          <p:nvPr/>
        </p:nvSpPr>
        <p:spPr>
          <a:xfrm>
            <a:off x="179512" y="1958814"/>
            <a:ext cx="8496944" cy="1323399"/>
          </a:xfrm>
          <a:prstGeom prst="rect">
            <a:avLst/>
          </a:prstGeom>
          <a:solidFill>
            <a:schemeClr val="accent4"/>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lt1"/>
                </a:solidFill>
                <a:latin typeface="Times New Roman"/>
                <a:ea typeface="Times New Roman"/>
                <a:cs typeface="Times New Roman"/>
                <a:sym typeface="Times New Roman"/>
              </a:rPr>
              <a:t>Enhancing Data Security in the Cloud with Semi-Trusted Third-Party Involvement.</a:t>
            </a:r>
          </a:p>
          <a:p>
            <a:pPr marL="0" marR="0" lvl="0" indent="0" algn="ctr" rtl="0">
              <a:spcBef>
                <a:spcPts val="0"/>
              </a:spcBef>
              <a:spcAft>
                <a:spcPts val="0"/>
              </a:spcAft>
              <a:buNone/>
            </a:pPr>
            <a:r>
              <a:rPr lang="en-US" sz="2400" b="1" dirty="0">
                <a:solidFill>
                  <a:schemeClr val="lt1"/>
                </a:solidFill>
                <a:latin typeface="Times New Roman"/>
                <a:ea typeface="Times New Roman"/>
                <a:cs typeface="Times New Roman"/>
                <a:sym typeface="Times New Roman"/>
              </a:rPr>
              <a:t>Project</a:t>
            </a:r>
            <a:r>
              <a:rPr lang="en-US" sz="3200" b="1" dirty="0">
                <a:solidFill>
                  <a:schemeClr val="lt1"/>
                </a:solidFill>
                <a:latin typeface="Times New Roman"/>
                <a:ea typeface="Times New Roman"/>
                <a:cs typeface="Times New Roman"/>
                <a:sym typeface="Times New Roman"/>
              </a:rPr>
              <a:t> </a:t>
            </a:r>
            <a:r>
              <a:rPr lang="en-US" sz="2400" b="1" dirty="0">
                <a:solidFill>
                  <a:schemeClr val="lt1"/>
                </a:solidFill>
                <a:latin typeface="Times New Roman"/>
                <a:ea typeface="Times New Roman"/>
                <a:cs typeface="Times New Roman"/>
                <a:sym typeface="Times New Roman"/>
              </a:rPr>
              <a:t>Batch Number: A17</a:t>
            </a:r>
            <a:endParaRPr dirty="0"/>
          </a:p>
        </p:txBody>
      </p:sp>
      <p:pic>
        <p:nvPicPr>
          <p:cNvPr id="95" name="Google Shape;95;p1"/>
          <p:cNvPicPr preferRelativeResize="0"/>
          <p:nvPr/>
        </p:nvPicPr>
        <p:blipFill rotWithShape="1">
          <a:blip r:embed="rId5">
            <a:alphaModFix/>
          </a:blip>
          <a:srcRect/>
          <a:stretch/>
        </p:blipFill>
        <p:spPr>
          <a:xfrm>
            <a:off x="8038965" y="14512"/>
            <a:ext cx="793750" cy="765175"/>
          </a:xfrm>
          <a:prstGeom prst="rect">
            <a:avLst/>
          </a:prstGeom>
          <a:noFill/>
          <a:ln>
            <a:noFill/>
          </a:ln>
        </p:spPr>
      </p:pic>
      <p:graphicFrame>
        <p:nvGraphicFramePr>
          <p:cNvPr id="2" name="Table 1">
            <a:extLst>
              <a:ext uri="{FF2B5EF4-FFF2-40B4-BE49-F238E27FC236}">
                <a16:creationId xmlns:a16="http://schemas.microsoft.com/office/drawing/2014/main" id="{72763CC0-E646-DD99-E027-7447200F49CE}"/>
              </a:ext>
            </a:extLst>
          </p:cNvPr>
          <p:cNvGraphicFramePr>
            <a:graphicFrameLocks noGrp="1"/>
          </p:cNvGraphicFramePr>
          <p:nvPr>
            <p:extLst>
              <p:ext uri="{D42A27DB-BD31-4B8C-83A1-F6EECF244321}">
                <p14:modId xmlns:p14="http://schemas.microsoft.com/office/powerpoint/2010/main" val="1636658563"/>
              </p:ext>
            </p:extLst>
          </p:nvPr>
        </p:nvGraphicFramePr>
        <p:xfrm>
          <a:off x="1371856" y="4237642"/>
          <a:ext cx="6823328" cy="2336707"/>
        </p:xfrm>
        <a:graphic>
          <a:graphicData uri="http://schemas.openxmlformats.org/drawingml/2006/table">
            <a:tbl>
              <a:tblPr firstRow="1" bandRow="1">
                <a:tableStyleId>{5C22544A-7EE6-4342-B048-85BDC9FD1C3A}</a:tableStyleId>
              </a:tblPr>
              <a:tblGrid>
                <a:gridCol w="933768">
                  <a:extLst>
                    <a:ext uri="{9D8B030D-6E8A-4147-A177-3AD203B41FA5}">
                      <a16:colId xmlns:a16="http://schemas.microsoft.com/office/drawing/2014/main" val="723135582"/>
                    </a:ext>
                  </a:extLst>
                </a:gridCol>
                <a:gridCol w="2854313">
                  <a:extLst>
                    <a:ext uri="{9D8B030D-6E8A-4147-A177-3AD203B41FA5}">
                      <a16:colId xmlns:a16="http://schemas.microsoft.com/office/drawing/2014/main" val="263849018"/>
                    </a:ext>
                  </a:extLst>
                </a:gridCol>
                <a:gridCol w="3035247">
                  <a:extLst>
                    <a:ext uri="{9D8B030D-6E8A-4147-A177-3AD203B41FA5}">
                      <a16:colId xmlns:a16="http://schemas.microsoft.com/office/drawing/2014/main" val="4239454294"/>
                    </a:ext>
                  </a:extLst>
                </a:gridCol>
              </a:tblGrid>
              <a:tr h="667303">
                <a:tc>
                  <a: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Serial No</a:t>
                      </a:r>
                    </a:p>
                  </a:txBody>
                  <a:tcPr/>
                </a:tc>
                <a:tc>
                  <a:txBody>
                    <a:bodyPr/>
                    <a:lstStyle/>
                    <a:p>
                      <a:r>
                        <a:rPr lang="en-US" dirty="0"/>
                        <a:t>          </a:t>
                      </a:r>
                    </a:p>
                    <a:p>
                      <a:r>
                        <a:rPr lang="en-US" dirty="0"/>
                        <a:t>           Student Name</a:t>
                      </a:r>
                    </a:p>
                    <a:p>
                      <a:endParaRPr lang="en-US" dirty="0"/>
                    </a:p>
                  </a:txBody>
                  <a:tcPr/>
                </a:tc>
                <a:tc>
                  <a:txBody>
                    <a:bodyPr/>
                    <a:lstStyle/>
                    <a:p>
                      <a:endParaRPr lang="en-US" dirty="0"/>
                    </a:p>
                    <a:p>
                      <a:r>
                        <a:rPr lang="en-US" dirty="0"/>
                        <a:t>                  Roll No</a:t>
                      </a:r>
                    </a:p>
                  </a:txBody>
                  <a:tcPr/>
                </a:tc>
                <a:extLst>
                  <a:ext uri="{0D108BD9-81ED-4DB2-BD59-A6C34878D82A}">
                    <a16:rowId xmlns:a16="http://schemas.microsoft.com/office/drawing/2014/main" val="2375058619"/>
                  </a:ext>
                </a:extLst>
              </a:tr>
              <a:tr h="507907">
                <a:tc>
                  <a:txBody>
                    <a:bodyPr/>
                    <a:lstStyle/>
                    <a:p>
                      <a:r>
                        <a:rPr lang="en-US" dirty="0"/>
                        <a:t>        </a:t>
                      </a:r>
                      <a:r>
                        <a:rPr lang="en-US" sz="1600" dirty="0">
                          <a:latin typeface="Times New Roman" panose="02020603050405020304" pitchFamily="18" charset="0"/>
                          <a:cs typeface="Times New Roman" panose="02020603050405020304" pitchFamily="18" charset="0"/>
                        </a:rPr>
                        <a:t>1</a:t>
                      </a:r>
                    </a:p>
                  </a:txBody>
                  <a:tcPr/>
                </a:tc>
                <a:tc>
                  <a:txBody>
                    <a:bodyPr/>
                    <a:lstStyle/>
                    <a:p>
                      <a:r>
                        <a:rPr lang="en-US" sz="1600" dirty="0">
                          <a:latin typeface="Times New Roman" panose="02020603050405020304" pitchFamily="18" charset="0"/>
                          <a:cs typeface="Times New Roman" panose="02020603050405020304" pitchFamily="18" charset="0"/>
                        </a:rPr>
                        <a:t>    Vaspari Tharun Kumar</a:t>
                      </a:r>
                    </a:p>
                  </a:txBody>
                  <a:tcPr/>
                </a:tc>
                <a:tc>
                  <a:txBody>
                    <a:bodyPr/>
                    <a:lstStyle/>
                    <a:p>
                      <a:r>
                        <a:rPr lang="en-US" dirty="0"/>
                        <a:t>            </a:t>
                      </a:r>
                      <a:r>
                        <a:rPr lang="en-US" sz="1600" dirty="0">
                          <a:latin typeface="Times New Roman" panose="02020603050405020304" pitchFamily="18" charset="0"/>
                          <a:cs typeface="Times New Roman" panose="02020603050405020304" pitchFamily="18" charset="0"/>
                        </a:rPr>
                        <a:t>1608-20-733-022</a:t>
                      </a:r>
                    </a:p>
                  </a:txBody>
                  <a:tcPr/>
                </a:tc>
                <a:extLst>
                  <a:ext uri="{0D108BD9-81ED-4DB2-BD59-A6C34878D82A}">
                    <a16:rowId xmlns:a16="http://schemas.microsoft.com/office/drawing/2014/main" val="2899192936"/>
                  </a:ext>
                </a:extLst>
              </a:tr>
              <a:tr h="500477">
                <a:tc>
                  <a:txBody>
                    <a:bodyPr/>
                    <a:lstStyle/>
                    <a:p>
                      <a:r>
                        <a:rPr lang="en-US" dirty="0"/>
                        <a:t>        2</a:t>
                      </a:r>
                    </a:p>
                  </a:txBody>
                  <a:tcPr/>
                </a:tc>
                <a:tc>
                  <a:txBody>
                    <a:bodyPr/>
                    <a:lstStyle/>
                    <a:p>
                      <a:r>
                        <a:rPr lang="en-US" sz="1600" dirty="0">
                          <a:latin typeface="Times New Roman" panose="02020603050405020304" pitchFamily="18" charset="0"/>
                          <a:cs typeface="Times New Roman" panose="02020603050405020304" pitchFamily="18" charset="0"/>
                        </a:rPr>
                        <a:t>    Lekhana Sarikonda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t>
                      </a:r>
                      <a:r>
                        <a:rPr lang="en-US" sz="1600" dirty="0">
                          <a:latin typeface="Times New Roman" panose="02020603050405020304" pitchFamily="18" charset="0"/>
                          <a:cs typeface="Times New Roman" panose="02020603050405020304" pitchFamily="18" charset="0"/>
                        </a:rPr>
                        <a:t>1608-20-733-012</a:t>
                      </a:r>
                    </a:p>
                    <a:p>
                      <a:endParaRPr lang="en-US" dirty="0"/>
                    </a:p>
                  </a:txBody>
                  <a:tcPr/>
                </a:tc>
                <a:extLst>
                  <a:ext uri="{0D108BD9-81ED-4DB2-BD59-A6C34878D82A}">
                    <a16:rowId xmlns:a16="http://schemas.microsoft.com/office/drawing/2014/main" val="436338471"/>
                  </a:ext>
                </a:extLst>
              </a:tr>
              <a:tr h="500477">
                <a:tc>
                  <a:txBody>
                    <a:bodyPr/>
                    <a:lstStyle/>
                    <a:p>
                      <a:r>
                        <a:rPr lang="en-US" dirty="0"/>
                        <a:t>        </a:t>
                      </a:r>
                      <a:r>
                        <a:rPr lang="en-US" sz="1800" dirty="0">
                          <a:latin typeface="Times New Roman" panose="02020603050405020304" pitchFamily="18" charset="0"/>
                          <a:cs typeface="Times New Roman" panose="02020603050405020304" pitchFamily="18" charset="0"/>
                        </a:rPr>
                        <a:t>3</a:t>
                      </a:r>
                    </a:p>
                  </a:txBody>
                  <a:tcPr/>
                </a:tc>
                <a:tc>
                  <a:txBody>
                    <a:bodyPr/>
                    <a:lstStyle/>
                    <a:p>
                      <a:r>
                        <a:rPr lang="en-US" sz="1600" dirty="0">
                          <a:latin typeface="Times New Roman" panose="02020603050405020304" pitchFamily="18" charset="0"/>
                          <a:cs typeface="Times New Roman" panose="02020603050405020304" pitchFamily="18" charset="0"/>
                        </a:rPr>
                        <a:t>    Nagalla Lohith</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t>
                      </a:r>
                      <a:r>
                        <a:rPr lang="en-US" sz="1600" dirty="0">
                          <a:latin typeface="Times New Roman" panose="02020603050405020304" pitchFamily="18" charset="0"/>
                          <a:cs typeface="Times New Roman" panose="02020603050405020304" pitchFamily="18" charset="0"/>
                        </a:rPr>
                        <a:t>1608-20-733-303</a:t>
                      </a:r>
                    </a:p>
                    <a:p>
                      <a:r>
                        <a:rPr lang="en-US" dirty="0"/>
                        <a:t> </a:t>
                      </a:r>
                    </a:p>
                  </a:txBody>
                  <a:tcPr/>
                </a:tc>
                <a:extLst>
                  <a:ext uri="{0D108BD9-81ED-4DB2-BD59-A6C34878D82A}">
                    <a16:rowId xmlns:a16="http://schemas.microsoft.com/office/drawing/2014/main" val="1135444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ctrTitle"/>
          </p:nvPr>
        </p:nvSpPr>
        <p:spPr>
          <a:xfrm>
            <a:off x="0" y="807680"/>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dirty="0">
                <a:solidFill>
                  <a:srgbClr val="002060"/>
                </a:solidFill>
                <a:latin typeface="Times New Roman"/>
                <a:ea typeface="Cambria"/>
                <a:cs typeface="Times New Roman"/>
                <a:sym typeface="Times New Roman"/>
              </a:rPr>
              <a:t>Contents</a:t>
            </a:r>
            <a:endParaRPr sz="3200" dirty="0">
              <a:solidFill>
                <a:srgbClr val="002060"/>
              </a:solidFill>
              <a:latin typeface="Cambria"/>
              <a:ea typeface="Cambria"/>
              <a:cs typeface="Cambria"/>
              <a:sym typeface="Cambria"/>
            </a:endParaRPr>
          </a:p>
        </p:txBody>
      </p:sp>
      <p:pic>
        <p:nvPicPr>
          <p:cNvPr id="123" name="Google Shape;123;p3" descr="logo.png"/>
          <p:cNvPicPr preferRelativeResize="0"/>
          <p:nvPr/>
        </p:nvPicPr>
        <p:blipFill rotWithShape="1">
          <a:blip r:embed="rId3">
            <a:alphaModFix/>
          </a:blip>
          <a:srcRect/>
          <a:stretch/>
        </p:blipFill>
        <p:spPr>
          <a:xfrm>
            <a:off x="279920" y="-39175"/>
            <a:ext cx="976320" cy="846855"/>
          </a:xfrm>
          <a:prstGeom prst="rect">
            <a:avLst/>
          </a:prstGeom>
          <a:noFill/>
          <a:ln>
            <a:noFill/>
          </a:ln>
        </p:spPr>
      </p:pic>
      <p:pic>
        <p:nvPicPr>
          <p:cNvPr id="124" name="Google Shape;124;p3"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25" name="Google Shape;125;p3"/>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26" name="Google Shape;126;p3"/>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4" name="TextBox 3">
            <a:extLst>
              <a:ext uri="{FF2B5EF4-FFF2-40B4-BE49-F238E27FC236}">
                <a16:creationId xmlns:a16="http://schemas.microsoft.com/office/drawing/2014/main" id="{A0FFC889-5E11-9F48-FEE5-DA6896F1847A}"/>
              </a:ext>
            </a:extLst>
          </p:cNvPr>
          <p:cNvSpPr txBox="1"/>
          <p:nvPr/>
        </p:nvSpPr>
        <p:spPr>
          <a:xfrm>
            <a:off x="1256240" y="1745406"/>
            <a:ext cx="5822301" cy="3970318"/>
          </a:xfrm>
          <a:prstGeom prst="rect">
            <a:avLst/>
          </a:prstGeom>
          <a:noFill/>
        </p:spPr>
        <p:txBody>
          <a:bodyPr wrap="square">
            <a:spAutoFit/>
          </a:bodyPr>
          <a:lstStyle/>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Introduction</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Motivation</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Abstract</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Problem Statement</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Literature Survey</a:t>
            </a:r>
          </a:p>
          <a:p>
            <a:pPr>
              <a:buClrTx/>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Objectives</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Proposed Methodology</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Modules</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System Requirements</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System Architecture</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UML Diagrams</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Results</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Conclusion</a:t>
            </a:r>
          </a:p>
          <a:p>
            <a:pPr>
              <a:buClr>
                <a:schemeClr val="tx1"/>
              </a:buCl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577990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ctrTitle"/>
          </p:nvPr>
        </p:nvSpPr>
        <p:spPr>
          <a:xfrm>
            <a:off x="0" y="899004"/>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dirty="0">
                <a:latin typeface="Times New Roman"/>
                <a:ea typeface="Times New Roman"/>
                <a:cs typeface="Times New Roman"/>
                <a:sym typeface="Times New Roman"/>
              </a:rPr>
              <a:t>Introduction</a:t>
            </a:r>
            <a:endParaRPr sz="3200" b="1" dirty="0">
              <a:solidFill>
                <a:srgbClr val="002060"/>
              </a:solidFill>
              <a:latin typeface="Cambria"/>
              <a:ea typeface="Cambria"/>
              <a:cs typeface="Cambria"/>
              <a:sym typeface="Cambria"/>
            </a:endParaRPr>
          </a:p>
        </p:txBody>
      </p:sp>
      <p:pic>
        <p:nvPicPr>
          <p:cNvPr id="123" name="Google Shape;123;p3" descr="logo.png"/>
          <p:cNvPicPr preferRelativeResize="0"/>
          <p:nvPr/>
        </p:nvPicPr>
        <p:blipFill rotWithShape="1">
          <a:blip r:embed="rId3">
            <a:alphaModFix/>
          </a:blip>
          <a:srcRect/>
          <a:stretch/>
        </p:blipFill>
        <p:spPr>
          <a:xfrm>
            <a:off x="279920" y="-39175"/>
            <a:ext cx="976320" cy="846855"/>
          </a:xfrm>
          <a:prstGeom prst="rect">
            <a:avLst/>
          </a:prstGeom>
          <a:noFill/>
          <a:ln>
            <a:noFill/>
          </a:ln>
        </p:spPr>
      </p:pic>
      <p:pic>
        <p:nvPicPr>
          <p:cNvPr id="124" name="Google Shape;124;p3"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25" name="Google Shape;125;p3"/>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26" name="Google Shape;126;p3"/>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2" name="TextBox 1">
            <a:extLst>
              <a:ext uri="{FF2B5EF4-FFF2-40B4-BE49-F238E27FC236}">
                <a16:creationId xmlns:a16="http://schemas.microsoft.com/office/drawing/2014/main" id="{AD3EF060-E8BD-078B-ADB8-CF5B6A0A6EA9}"/>
              </a:ext>
            </a:extLst>
          </p:cNvPr>
          <p:cNvSpPr txBox="1"/>
          <p:nvPr/>
        </p:nvSpPr>
        <p:spPr>
          <a:xfrm>
            <a:off x="278651" y="1770342"/>
            <a:ext cx="8554064" cy="5032147"/>
          </a:xfrm>
          <a:prstGeom prst="rect">
            <a:avLst/>
          </a:prstGeom>
          <a:noFill/>
        </p:spPr>
        <p:txBody>
          <a:bodyPr wrap="square" rtlCol="0">
            <a:spAutoFit/>
          </a:bodyPr>
          <a:lstStyle/>
          <a:p>
            <a:pPr marL="285750" indent="-285750">
              <a:buFont typeface="Arial" panose="020B0604020202020204" pitchFamily="34" charset="0"/>
              <a:buChar char="•"/>
            </a:pPr>
            <a:r>
              <a:rPr lang="en-IN" sz="2000" kern="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rPr>
              <a:t>The advent of cloud computing has revolutionized data storage and sharing, enabling individuals and organizations to leverage scalable and cost-effective solutions. However, the outsourcing of data to the cloud introduces concerns about privacy and integrity, particularly when multiple parties collaborate on shared data.</a:t>
            </a:r>
          </a:p>
          <a:p>
            <a:endParaRPr lang="en-IN" sz="2000" kern="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2000" kern="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rPr>
              <a:t>The proposed system employs innovative techniques, notably Advanced Encryption Standard to encrypt the data, SMTP protocol for secure communication and MD5 hashing to verify integrity of the data. </a:t>
            </a:r>
          </a:p>
          <a:p>
            <a:endParaRPr lang="en-IN" sz="2000" kern="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200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rPr>
              <a:t>The primary objective is to encrypt the data using AES algorith</a:t>
            </a:r>
            <a:r>
              <a:rPr lang="en-IN" sz="2000" dirty="0">
                <a:solidFill>
                  <a:srgbClr val="231F20"/>
                </a:solidFill>
                <a:latin typeface="Times New Roman" panose="02020603050405020304" pitchFamily="18" charset="0"/>
                <a:ea typeface="Calibri" panose="020F0502020204030204" pitchFamily="34" charset="0"/>
                <a:cs typeface="Times New Roman" panose="02020603050405020304" pitchFamily="18" charset="0"/>
              </a:rPr>
              <a:t>m</a:t>
            </a:r>
            <a:r>
              <a:rPr lang="en-IN" sz="200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rPr>
              <a:t> and store in a cloud so that only the authorized users can login and access the data. The secret key is sent to the user using SMTP protocol. Auditors are used to verify the integrity of the data.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r>
              <a:rPr lang="en-IN" sz="2000" dirty="0">
                <a:solidFill>
                  <a:srgbClr val="231F2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ctrTitle"/>
          </p:nvPr>
        </p:nvSpPr>
        <p:spPr>
          <a:xfrm>
            <a:off x="0" y="823697"/>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a:latin typeface="Times New Roman"/>
                <a:ea typeface="Times New Roman"/>
                <a:cs typeface="Times New Roman"/>
                <a:sym typeface="Times New Roman"/>
              </a:rPr>
              <a:t>Motivation</a:t>
            </a:r>
            <a:endParaRPr sz="3200" b="1">
              <a:solidFill>
                <a:srgbClr val="002060"/>
              </a:solidFill>
              <a:latin typeface="Cambria"/>
              <a:ea typeface="Cambria"/>
              <a:cs typeface="Cambria"/>
              <a:sym typeface="Cambria"/>
            </a:endParaRPr>
          </a:p>
        </p:txBody>
      </p:sp>
      <p:pic>
        <p:nvPicPr>
          <p:cNvPr id="132" name="Google Shape;132;p8" descr="logo.png"/>
          <p:cNvPicPr preferRelativeResize="0"/>
          <p:nvPr/>
        </p:nvPicPr>
        <p:blipFill rotWithShape="1">
          <a:blip r:embed="rId3">
            <a:alphaModFix/>
          </a:blip>
          <a:srcRect/>
          <a:stretch/>
        </p:blipFill>
        <p:spPr>
          <a:xfrm>
            <a:off x="261258" y="-67168"/>
            <a:ext cx="976320" cy="846855"/>
          </a:xfrm>
          <a:prstGeom prst="rect">
            <a:avLst/>
          </a:prstGeom>
          <a:noFill/>
          <a:ln>
            <a:noFill/>
          </a:ln>
        </p:spPr>
      </p:pic>
      <p:pic>
        <p:nvPicPr>
          <p:cNvPr id="133" name="Google Shape;133;p8"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34" name="Google Shape;134;p8"/>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35" name="Google Shape;135;p8"/>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6" name="TextBox 5">
            <a:extLst>
              <a:ext uri="{FF2B5EF4-FFF2-40B4-BE49-F238E27FC236}">
                <a16:creationId xmlns:a16="http://schemas.microsoft.com/office/drawing/2014/main" id="{C3B21EF1-19E5-AB47-B93C-475D476E535D}"/>
              </a:ext>
            </a:extLst>
          </p:cNvPr>
          <p:cNvSpPr txBox="1"/>
          <p:nvPr/>
        </p:nvSpPr>
        <p:spPr>
          <a:xfrm>
            <a:off x="233265" y="1820005"/>
            <a:ext cx="8677470" cy="1384995"/>
          </a:xfrm>
          <a:prstGeom prst="rect">
            <a:avLst/>
          </a:prstGeom>
          <a:noFill/>
        </p:spPr>
        <p:txBody>
          <a:bodyPr wrap="square">
            <a:spAutoFit/>
          </a:bodyPr>
          <a:lstStyle/>
          <a:p>
            <a:pPr marL="285750" indent="-285750">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Cloud storages are constantly under cyber attacks. Hackers are honing their methods and techniques to intrude into your cloud storage and steal your data.</a:t>
            </a:r>
          </a:p>
          <a:p>
            <a:pPr marL="285750" indent="-285750">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As more and more companies move their data to the cloud, it is becoming increasingly important for them to understand the risks and potential consequences of cloud hacks.</a:t>
            </a:r>
          </a:p>
          <a:p>
            <a:pPr marL="285750" indent="-285750">
              <a:buFont typeface="Wingdings" panose="05000000000000000000" pitchFamily="2" charset="2"/>
              <a:buChar char="q"/>
            </a:pPr>
            <a:endParaRPr lang="en-US" sz="1200" dirty="0">
              <a:latin typeface="+mj-lt"/>
            </a:endParaRPr>
          </a:p>
        </p:txBody>
      </p:sp>
      <p:pic>
        <p:nvPicPr>
          <p:cNvPr id="7" name="Picture 6">
            <a:extLst>
              <a:ext uri="{FF2B5EF4-FFF2-40B4-BE49-F238E27FC236}">
                <a16:creationId xmlns:a16="http://schemas.microsoft.com/office/drawing/2014/main" id="{155E3F76-8DAD-E29F-85F4-88CEBF9374B2}"/>
              </a:ext>
            </a:extLst>
          </p:cNvPr>
          <p:cNvPicPr>
            <a:picLocks noChangeAspect="1"/>
          </p:cNvPicPr>
          <p:nvPr/>
        </p:nvPicPr>
        <p:blipFill>
          <a:blip r:embed="rId6"/>
          <a:stretch>
            <a:fillRect/>
          </a:stretch>
        </p:blipFill>
        <p:spPr>
          <a:xfrm>
            <a:off x="2174034" y="3429000"/>
            <a:ext cx="4686867" cy="25170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2716E9-3172-88C7-7721-003C70F730D7}"/>
              </a:ext>
            </a:extLst>
          </p:cNvPr>
          <p:cNvPicPr>
            <a:picLocks noChangeAspect="1"/>
          </p:cNvPicPr>
          <p:nvPr/>
        </p:nvPicPr>
        <p:blipFill>
          <a:blip r:embed="rId2"/>
          <a:stretch>
            <a:fillRect/>
          </a:stretch>
        </p:blipFill>
        <p:spPr>
          <a:xfrm>
            <a:off x="0" y="1179723"/>
            <a:ext cx="9144000" cy="2035277"/>
          </a:xfrm>
          <a:prstGeom prst="rect">
            <a:avLst/>
          </a:prstGeom>
        </p:spPr>
      </p:pic>
      <p:pic>
        <p:nvPicPr>
          <p:cNvPr id="6" name="Picture 5">
            <a:extLst>
              <a:ext uri="{FF2B5EF4-FFF2-40B4-BE49-F238E27FC236}">
                <a16:creationId xmlns:a16="http://schemas.microsoft.com/office/drawing/2014/main" id="{BA6F73D8-8067-C39C-1FF2-1EADE2692222}"/>
              </a:ext>
            </a:extLst>
          </p:cNvPr>
          <p:cNvPicPr>
            <a:picLocks noChangeAspect="1"/>
          </p:cNvPicPr>
          <p:nvPr/>
        </p:nvPicPr>
        <p:blipFill>
          <a:blip r:embed="rId3"/>
          <a:stretch>
            <a:fillRect/>
          </a:stretch>
        </p:blipFill>
        <p:spPr>
          <a:xfrm>
            <a:off x="2343320" y="4361471"/>
            <a:ext cx="4457360" cy="2427161"/>
          </a:xfrm>
          <a:prstGeom prst="rect">
            <a:avLst/>
          </a:prstGeom>
        </p:spPr>
      </p:pic>
      <p:sp>
        <p:nvSpPr>
          <p:cNvPr id="8" name="TextBox 7">
            <a:extLst>
              <a:ext uri="{FF2B5EF4-FFF2-40B4-BE49-F238E27FC236}">
                <a16:creationId xmlns:a16="http://schemas.microsoft.com/office/drawing/2014/main" id="{B5C5D18B-B9C7-1EE1-0273-E73B9A45F44A}"/>
              </a:ext>
            </a:extLst>
          </p:cNvPr>
          <p:cNvSpPr txBox="1"/>
          <p:nvPr/>
        </p:nvSpPr>
        <p:spPr>
          <a:xfrm>
            <a:off x="205273" y="3095946"/>
            <a:ext cx="8733453" cy="1508105"/>
          </a:xfrm>
          <a:prstGeom prst="rect">
            <a:avLst/>
          </a:prstGeom>
          <a:noFill/>
        </p:spPr>
        <p:txBody>
          <a:bodyPr wrap="square">
            <a:spAutoFit/>
          </a:bodyPr>
          <a:lstStyle/>
          <a:p>
            <a:pPr marL="171450" indent="-1714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Searching for a document on cloud which consists of millions of files, increases the retrieval rate. By using keyword search, this can be minimized.</a:t>
            </a:r>
          </a:p>
          <a:p>
            <a:pPr marL="171450" indent="-1714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Google search engine generates plenty of links or related information according to the keyword specified in the search bar.</a:t>
            </a:r>
          </a:p>
          <a:p>
            <a:pPr marL="285750" indent="-285750">
              <a:buFont typeface="Wingdings" panose="05000000000000000000" pitchFamily="2" charset="2"/>
              <a:buChar char="q"/>
            </a:pPr>
            <a:endParaRPr lang="en-US" sz="1200" dirty="0">
              <a:latin typeface="+mj-lt"/>
            </a:endParaRPr>
          </a:p>
        </p:txBody>
      </p:sp>
      <p:pic>
        <p:nvPicPr>
          <p:cNvPr id="2" name="Google Shape;132;p8" descr="logo.png">
            <a:extLst>
              <a:ext uri="{FF2B5EF4-FFF2-40B4-BE49-F238E27FC236}">
                <a16:creationId xmlns:a16="http://schemas.microsoft.com/office/drawing/2014/main" id="{85B7ED8C-9119-E907-E1CE-0E9E58246179}"/>
              </a:ext>
            </a:extLst>
          </p:cNvPr>
          <p:cNvPicPr preferRelativeResize="0"/>
          <p:nvPr/>
        </p:nvPicPr>
        <p:blipFill rotWithShape="1">
          <a:blip r:embed="rId4">
            <a:alphaModFix/>
          </a:blip>
          <a:srcRect/>
          <a:stretch/>
        </p:blipFill>
        <p:spPr>
          <a:xfrm>
            <a:off x="214611" y="-29844"/>
            <a:ext cx="976320" cy="846855"/>
          </a:xfrm>
          <a:prstGeom prst="rect">
            <a:avLst/>
          </a:prstGeom>
          <a:noFill/>
          <a:ln>
            <a:noFill/>
          </a:ln>
        </p:spPr>
      </p:pic>
      <p:pic>
        <p:nvPicPr>
          <p:cNvPr id="3" name="Google Shape;133;p8" descr="NBA LOGO.png">
            <a:extLst>
              <a:ext uri="{FF2B5EF4-FFF2-40B4-BE49-F238E27FC236}">
                <a16:creationId xmlns:a16="http://schemas.microsoft.com/office/drawing/2014/main" id="{8E8AB0BF-236F-CC66-605C-F533B665EFC8}"/>
              </a:ext>
            </a:extLst>
          </p:cNvPr>
          <p:cNvPicPr preferRelativeResize="0"/>
          <p:nvPr/>
        </p:nvPicPr>
        <p:blipFill rotWithShape="1">
          <a:blip r:embed="rId5">
            <a:alphaModFix/>
          </a:blip>
          <a:srcRect/>
          <a:stretch/>
        </p:blipFill>
        <p:spPr>
          <a:xfrm>
            <a:off x="6965939" y="0"/>
            <a:ext cx="885825" cy="794201"/>
          </a:xfrm>
          <a:prstGeom prst="rect">
            <a:avLst/>
          </a:prstGeom>
          <a:noFill/>
          <a:ln>
            <a:noFill/>
          </a:ln>
        </p:spPr>
      </p:pic>
      <p:pic>
        <p:nvPicPr>
          <p:cNvPr id="4" name="Google Shape;135;p8">
            <a:extLst>
              <a:ext uri="{FF2B5EF4-FFF2-40B4-BE49-F238E27FC236}">
                <a16:creationId xmlns:a16="http://schemas.microsoft.com/office/drawing/2014/main" id="{B201D930-5E4A-D384-C34C-0383F1CFC379}"/>
              </a:ext>
            </a:extLst>
          </p:cNvPr>
          <p:cNvPicPr preferRelativeResize="0"/>
          <p:nvPr/>
        </p:nvPicPr>
        <p:blipFill rotWithShape="1">
          <a:blip r:embed="rId6">
            <a:alphaModFix/>
          </a:blip>
          <a:srcRect/>
          <a:stretch/>
        </p:blipFill>
        <p:spPr>
          <a:xfrm>
            <a:off x="8038965" y="14512"/>
            <a:ext cx="793750" cy="765175"/>
          </a:xfrm>
          <a:prstGeom prst="rect">
            <a:avLst/>
          </a:prstGeom>
          <a:noFill/>
          <a:ln>
            <a:noFill/>
          </a:ln>
        </p:spPr>
      </p:pic>
      <p:sp>
        <p:nvSpPr>
          <p:cNvPr id="7" name="Google Shape;131;p8">
            <a:extLst>
              <a:ext uri="{FF2B5EF4-FFF2-40B4-BE49-F238E27FC236}">
                <a16:creationId xmlns:a16="http://schemas.microsoft.com/office/drawing/2014/main" id="{D0A2AD12-7A87-64B1-4827-1F1D005072BC}"/>
              </a:ext>
            </a:extLst>
          </p:cNvPr>
          <p:cNvSpPr txBox="1">
            <a:spLocks/>
          </p:cNvSpPr>
          <p:nvPr/>
        </p:nvSpPr>
        <p:spPr>
          <a:xfrm>
            <a:off x="0" y="823697"/>
            <a:ext cx="9144000" cy="473258"/>
          </a:xfrm>
          <a:prstGeom prst="rect">
            <a:avLst/>
          </a:prstGeom>
          <a:solidFill>
            <a:srgbClr val="B2A0C7"/>
          </a:solid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a:latin typeface="Times New Roman"/>
                <a:ea typeface="Times New Roman"/>
                <a:cs typeface="Times New Roman"/>
                <a:sym typeface="Times New Roman"/>
              </a:rPr>
              <a:t>Motivation</a:t>
            </a:r>
            <a:endParaRPr lang="en-US" sz="3200" b="1">
              <a:solidFill>
                <a:srgbClr val="002060"/>
              </a:solidFill>
              <a:latin typeface="Cambria"/>
              <a:ea typeface="Cambria"/>
              <a:cs typeface="Cambria"/>
              <a:sym typeface="Cambria"/>
            </a:endParaRPr>
          </a:p>
        </p:txBody>
      </p:sp>
      <p:sp>
        <p:nvSpPr>
          <p:cNvPr id="10" name="TextBox 9">
            <a:extLst>
              <a:ext uri="{FF2B5EF4-FFF2-40B4-BE49-F238E27FC236}">
                <a16:creationId xmlns:a16="http://schemas.microsoft.com/office/drawing/2014/main" id="{0896DFDC-8C5F-9E27-50DA-A15886795AA7}"/>
              </a:ext>
            </a:extLst>
          </p:cNvPr>
          <p:cNvSpPr txBox="1"/>
          <p:nvPr/>
        </p:nvSpPr>
        <p:spPr>
          <a:xfrm>
            <a:off x="1536270" y="39640"/>
            <a:ext cx="5242468" cy="707886"/>
          </a:xfrm>
          <a:prstGeom prst="rect">
            <a:avLst/>
          </a:prstGeom>
          <a:noFill/>
        </p:spPr>
        <p:txBody>
          <a:bodyPr wrap="square">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lang="en-US" sz="2000"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lang="en-IN" sz="2000" dirty="0"/>
          </a:p>
        </p:txBody>
      </p:sp>
    </p:spTree>
    <p:extLst>
      <p:ext uri="{BB962C8B-B14F-4D97-AF65-F5344CB8AC3E}">
        <p14:creationId xmlns:p14="http://schemas.microsoft.com/office/powerpoint/2010/main" val="404015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D59E9-37E2-E629-9188-44F9EF21B406}"/>
            </a:ext>
          </a:extLst>
        </p:cNvPr>
        <p:cNvGrpSpPr/>
        <p:nvPr/>
      </p:nvGrpSpPr>
      <p:grpSpPr>
        <a:xfrm>
          <a:off x="0" y="0"/>
          <a:ext cx="0" cy="0"/>
          <a:chOff x="0" y="0"/>
          <a:chExt cx="0" cy="0"/>
        </a:xfrm>
      </p:grpSpPr>
      <p:pic>
        <p:nvPicPr>
          <p:cNvPr id="2" name="Google Shape;132;p8" descr="logo.png">
            <a:extLst>
              <a:ext uri="{FF2B5EF4-FFF2-40B4-BE49-F238E27FC236}">
                <a16:creationId xmlns:a16="http://schemas.microsoft.com/office/drawing/2014/main" id="{AB8734BD-30C4-C135-7FBF-9D8F22D68E18}"/>
              </a:ext>
            </a:extLst>
          </p:cNvPr>
          <p:cNvPicPr preferRelativeResize="0"/>
          <p:nvPr/>
        </p:nvPicPr>
        <p:blipFill rotWithShape="1">
          <a:blip r:embed="rId2">
            <a:alphaModFix/>
          </a:blip>
          <a:srcRect/>
          <a:stretch/>
        </p:blipFill>
        <p:spPr>
          <a:xfrm>
            <a:off x="214611" y="-29844"/>
            <a:ext cx="976320" cy="846855"/>
          </a:xfrm>
          <a:prstGeom prst="rect">
            <a:avLst/>
          </a:prstGeom>
          <a:noFill/>
          <a:ln>
            <a:noFill/>
          </a:ln>
        </p:spPr>
      </p:pic>
      <p:pic>
        <p:nvPicPr>
          <p:cNvPr id="3" name="Google Shape;133;p8" descr="NBA LOGO.png">
            <a:extLst>
              <a:ext uri="{FF2B5EF4-FFF2-40B4-BE49-F238E27FC236}">
                <a16:creationId xmlns:a16="http://schemas.microsoft.com/office/drawing/2014/main" id="{647B0A01-A9C9-4237-FD3B-09D8FC98B8A6}"/>
              </a:ext>
            </a:extLst>
          </p:cNvPr>
          <p:cNvPicPr preferRelativeResize="0"/>
          <p:nvPr/>
        </p:nvPicPr>
        <p:blipFill rotWithShape="1">
          <a:blip r:embed="rId3">
            <a:alphaModFix/>
          </a:blip>
          <a:srcRect/>
          <a:stretch/>
        </p:blipFill>
        <p:spPr>
          <a:xfrm>
            <a:off x="6965939" y="0"/>
            <a:ext cx="885825" cy="794201"/>
          </a:xfrm>
          <a:prstGeom prst="rect">
            <a:avLst/>
          </a:prstGeom>
          <a:noFill/>
          <a:ln>
            <a:noFill/>
          </a:ln>
        </p:spPr>
      </p:pic>
      <p:pic>
        <p:nvPicPr>
          <p:cNvPr id="4" name="Google Shape;135;p8">
            <a:extLst>
              <a:ext uri="{FF2B5EF4-FFF2-40B4-BE49-F238E27FC236}">
                <a16:creationId xmlns:a16="http://schemas.microsoft.com/office/drawing/2014/main" id="{432446F8-91F4-6185-BDD8-4721EDBD3F44}"/>
              </a:ext>
            </a:extLst>
          </p:cNvPr>
          <p:cNvPicPr preferRelativeResize="0"/>
          <p:nvPr/>
        </p:nvPicPr>
        <p:blipFill rotWithShape="1">
          <a:blip r:embed="rId4">
            <a:alphaModFix/>
          </a:blip>
          <a:srcRect/>
          <a:stretch/>
        </p:blipFill>
        <p:spPr>
          <a:xfrm>
            <a:off x="8038965" y="14512"/>
            <a:ext cx="793750" cy="765175"/>
          </a:xfrm>
          <a:prstGeom prst="rect">
            <a:avLst/>
          </a:prstGeom>
          <a:noFill/>
          <a:ln>
            <a:noFill/>
          </a:ln>
        </p:spPr>
      </p:pic>
      <p:sp>
        <p:nvSpPr>
          <p:cNvPr id="7" name="Google Shape;131;p8">
            <a:extLst>
              <a:ext uri="{FF2B5EF4-FFF2-40B4-BE49-F238E27FC236}">
                <a16:creationId xmlns:a16="http://schemas.microsoft.com/office/drawing/2014/main" id="{6C54DCC6-3E36-41FC-52EE-589016DFC0A4}"/>
              </a:ext>
            </a:extLst>
          </p:cNvPr>
          <p:cNvSpPr txBox="1">
            <a:spLocks/>
          </p:cNvSpPr>
          <p:nvPr/>
        </p:nvSpPr>
        <p:spPr>
          <a:xfrm>
            <a:off x="0" y="823697"/>
            <a:ext cx="9144000" cy="473258"/>
          </a:xfrm>
          <a:prstGeom prst="rect">
            <a:avLst/>
          </a:prstGeom>
          <a:solidFill>
            <a:srgbClr val="B2A0C7"/>
          </a:solidFill>
          <a:ln>
            <a:noFill/>
          </a:ln>
        </p:spPr>
        <p:txBody>
          <a:bodyPr spcFirstLastPara="1" wrap="square" lIns="91425" tIns="45700" rIns="91425" bIns="45700"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dirty="0">
                <a:latin typeface="Times New Roman"/>
                <a:ea typeface="Times New Roman"/>
                <a:cs typeface="Times New Roman"/>
                <a:sym typeface="Times New Roman"/>
              </a:rPr>
              <a:t>Abstract</a:t>
            </a:r>
            <a:endParaRPr lang="en-US" sz="3200" b="1" dirty="0">
              <a:solidFill>
                <a:srgbClr val="002060"/>
              </a:solidFill>
              <a:latin typeface="Cambria"/>
              <a:ea typeface="Cambria"/>
              <a:cs typeface="Cambria"/>
              <a:sym typeface="Cambria"/>
            </a:endParaRPr>
          </a:p>
        </p:txBody>
      </p:sp>
      <p:sp>
        <p:nvSpPr>
          <p:cNvPr id="10" name="TextBox 9">
            <a:extLst>
              <a:ext uri="{FF2B5EF4-FFF2-40B4-BE49-F238E27FC236}">
                <a16:creationId xmlns:a16="http://schemas.microsoft.com/office/drawing/2014/main" id="{8E5BD3C1-6CAE-FF4D-714B-2B330C456847}"/>
              </a:ext>
            </a:extLst>
          </p:cNvPr>
          <p:cNvSpPr txBox="1"/>
          <p:nvPr/>
        </p:nvSpPr>
        <p:spPr>
          <a:xfrm>
            <a:off x="1536270" y="39640"/>
            <a:ext cx="5242468" cy="707886"/>
          </a:xfrm>
          <a:prstGeom prst="rect">
            <a:avLst/>
          </a:prstGeom>
          <a:noFill/>
        </p:spPr>
        <p:txBody>
          <a:bodyPr wrap="square">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lang="en-US" sz="2000"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lang="en-IN" sz="2000" dirty="0"/>
          </a:p>
        </p:txBody>
      </p:sp>
      <p:sp>
        <p:nvSpPr>
          <p:cNvPr id="9" name="TextBox 8">
            <a:extLst>
              <a:ext uri="{FF2B5EF4-FFF2-40B4-BE49-F238E27FC236}">
                <a16:creationId xmlns:a16="http://schemas.microsoft.com/office/drawing/2014/main" id="{33E1C70C-60B9-0CF3-A360-AD1CBED8140B}"/>
              </a:ext>
            </a:extLst>
          </p:cNvPr>
          <p:cNvSpPr txBox="1"/>
          <p:nvPr/>
        </p:nvSpPr>
        <p:spPr>
          <a:xfrm>
            <a:off x="438539" y="1509988"/>
            <a:ext cx="8136294" cy="5078313"/>
          </a:xfrm>
          <a:prstGeom prst="rect">
            <a:avLst/>
          </a:prstGeom>
          <a:noFill/>
        </p:spPr>
        <p:txBody>
          <a:bodyPr wrap="square" rtlCol="0">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Introduction to a privacy-preserving mechanism for public auditing of cloud-stored data.</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Utilization of innovative techniques like the AES algorithm for encryption of data, SMTP protocol for secure communication of keys, and MD5 hashing to verify data integrity.</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AES algorithm uses CBC mode with PKCS5 padding and with key size of 16 bytes(128bits).</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Emphasis on maintaining data integrity while safeguarding the identity of data signers.</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Primary objective: To elucidate the intricacies of the mechanism and its efficiency in auditing shared data.</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Contribution to the evolving landscape of cloud security through comprehensive exploration and insights.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184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2a788f1400f_0_9"/>
          <p:cNvSpPr txBox="1">
            <a:spLocks noGrp="1"/>
          </p:cNvSpPr>
          <p:nvPr>
            <p:ph type="ctrTitle"/>
          </p:nvPr>
        </p:nvSpPr>
        <p:spPr>
          <a:xfrm>
            <a:off x="0" y="823697"/>
            <a:ext cx="9144000" cy="576000"/>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a:latin typeface="Times New Roman"/>
                <a:ea typeface="Times New Roman"/>
                <a:cs typeface="Times New Roman"/>
                <a:sym typeface="Times New Roman"/>
              </a:rPr>
              <a:t>Problem Statement</a:t>
            </a:r>
            <a:endParaRPr sz="3200">
              <a:latin typeface="Times New Roman"/>
              <a:ea typeface="Times New Roman"/>
              <a:cs typeface="Times New Roman"/>
              <a:sym typeface="Times New Roman"/>
            </a:endParaRPr>
          </a:p>
        </p:txBody>
      </p:sp>
      <p:pic>
        <p:nvPicPr>
          <p:cNvPr id="141" name="Google Shape;141;g2a788f1400f_0_9" descr="logo.png"/>
          <p:cNvPicPr preferRelativeResize="0"/>
          <p:nvPr/>
        </p:nvPicPr>
        <p:blipFill rotWithShape="1">
          <a:blip r:embed="rId3">
            <a:alphaModFix/>
          </a:blip>
          <a:srcRect/>
          <a:stretch/>
        </p:blipFill>
        <p:spPr>
          <a:xfrm>
            <a:off x="177284" y="-67168"/>
            <a:ext cx="976320" cy="846855"/>
          </a:xfrm>
          <a:prstGeom prst="rect">
            <a:avLst/>
          </a:prstGeom>
          <a:noFill/>
          <a:ln>
            <a:noFill/>
          </a:ln>
        </p:spPr>
      </p:pic>
      <p:pic>
        <p:nvPicPr>
          <p:cNvPr id="142" name="Google Shape;142;g2a788f1400f_0_9"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43" name="Google Shape;143;g2a788f1400f_0_9"/>
          <p:cNvSpPr txBox="1"/>
          <p:nvPr/>
        </p:nvSpPr>
        <p:spPr>
          <a:xfrm>
            <a:off x="467543" y="91324"/>
            <a:ext cx="65007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44" name="Google Shape;144;g2a788f1400f_0_9"/>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4" name="TextBox 3">
            <a:extLst>
              <a:ext uri="{FF2B5EF4-FFF2-40B4-BE49-F238E27FC236}">
                <a16:creationId xmlns:a16="http://schemas.microsoft.com/office/drawing/2014/main" id="{C758A5D1-3638-4128-3C1F-DA36C8487947}"/>
              </a:ext>
            </a:extLst>
          </p:cNvPr>
          <p:cNvSpPr txBox="1"/>
          <p:nvPr/>
        </p:nvSpPr>
        <p:spPr>
          <a:xfrm>
            <a:off x="643802" y="2950125"/>
            <a:ext cx="7856395" cy="759310"/>
          </a:xfrm>
          <a:prstGeom prst="rect">
            <a:avLst/>
          </a:prstGeom>
          <a:noFill/>
        </p:spPr>
        <p:txBody>
          <a:bodyPr wrap="square">
            <a:spAutoFit/>
          </a:bodyPr>
          <a:lstStyle/>
          <a:p>
            <a:pPr marR="0" algn="just">
              <a:lnSpc>
                <a:spcPct val="115000"/>
              </a:lnSpc>
              <a:spcBef>
                <a:spcPts val="0"/>
              </a:spcBef>
              <a:spcAft>
                <a:spcPts val="0"/>
              </a:spcAft>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07000"/>
              </a:lnSpc>
              <a:spcBef>
                <a:spcPts val="0"/>
              </a:spcBef>
              <a:spcAft>
                <a:spcPts val="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29DF977-9125-72D7-54AA-5A470EEA989B}"/>
              </a:ext>
            </a:extLst>
          </p:cNvPr>
          <p:cNvSpPr txBox="1"/>
          <p:nvPr/>
        </p:nvSpPr>
        <p:spPr>
          <a:xfrm>
            <a:off x="245806" y="1737964"/>
            <a:ext cx="8652386" cy="4739759"/>
          </a:xfrm>
          <a:prstGeom prst="rect">
            <a:avLst/>
          </a:prstGeom>
          <a:noFill/>
        </p:spPr>
        <p:txBody>
          <a:bodyPr wrap="square" rtlCol="0">
            <a:spAutoFit/>
          </a:bodyPr>
          <a:lstStyle/>
          <a:p>
            <a:pPr marL="342900" indent="-342900">
              <a:buFont typeface="Arial" panose="020B0604020202020204" pitchFamily="34" charset="0"/>
              <a:buChar char="•"/>
            </a:pP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advent of cloud computing has revolutionized data storage and sharing, enabling individuals and organizations to leverage scalable and cost-effective solutions. However, the outsourcing of data to the cloud introduces concerns about privacy and integrity, particularly when multiple parties collaborate on shared data.</a:t>
            </a:r>
          </a:p>
          <a:p>
            <a:pPr marL="342900" indent="-342900">
              <a:buFont typeface="Arial" panose="020B0604020202020204" pitchFamily="34" charset="0"/>
              <a:buChar char="•"/>
            </a:pP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propose system, a privacy-preserving public auditing mechanism for shared data in the cloud. We utilized </a:t>
            </a:r>
            <a:r>
              <a:rPr lang="en-US" sz="1800" dirty="0">
                <a:latin typeface="Times New Roman" panose="02020603050405020304" pitchFamily="18" charset="0"/>
                <a:cs typeface="Times New Roman" panose="02020603050405020304" pitchFamily="18" charset="0"/>
              </a:rPr>
              <a:t>innovative techniques like the AES algorithm for encryption of data, SMTP protocol for secure communication of keys, and MD5 hashing to verify data integrity.</a:t>
            </a:r>
            <a:endPar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rtl="0">
              <a:spcBef>
                <a:spcPts val="0"/>
              </a:spcBef>
              <a:spcAft>
                <a:spcPts val="0"/>
              </a:spcAft>
              <a:buFont typeface="Arial" panose="020B0604020202020204" pitchFamily="34" charset="0"/>
              <a:buChar char="•"/>
            </a:pP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 improve the efficiency of verifying integrity of the data, we further extend our mechanism to use MD5 hashing algorithm. </a:t>
            </a:r>
          </a:p>
          <a:p>
            <a:pPr marL="342900" indent="-342900" rtl="0">
              <a:spcBef>
                <a:spcPts val="0"/>
              </a:spcBef>
              <a:spcAft>
                <a:spcPts val="0"/>
              </a:spcAft>
              <a:buFont typeface="Arial" panose="020B0604020202020204" pitchFamily="34" charset="0"/>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As we delve into the technical aspects of the proposed mechanism, the report also sheds light on the underlying principles of the Advanced Encryption Standard (AES), highlighting its unconventional use of bytes instead of bits and its matrix-based computation approach. </a:t>
            </a:r>
          </a:p>
          <a:p>
            <a:pPr marL="342900" indent="-342900">
              <a:buFont typeface="Arial" panose="020B0604020202020204" pitchFamily="34" charset="0"/>
              <a:buChar char="•"/>
            </a:pPr>
            <a:r>
              <a:rPr lang="en-IN" sz="1800" dirty="0">
                <a:solidFill>
                  <a:srgbClr val="231F20"/>
                </a:solidFill>
                <a:latin typeface="Times New Roman" panose="02020603050405020304" pitchFamily="18" charset="0"/>
                <a:ea typeface="Times New Roman" panose="02020603050405020304" pitchFamily="18" charset="0"/>
              </a:rPr>
              <a:t>T</a:t>
            </a:r>
            <a:r>
              <a:rPr lang="en-IN" sz="1800" dirty="0">
                <a:solidFill>
                  <a:srgbClr val="231F20"/>
                </a:solidFill>
                <a:effectLst/>
                <a:latin typeface="Times New Roman" panose="02020603050405020304" pitchFamily="18" charset="0"/>
                <a:ea typeface="Times New Roman" panose="02020603050405020304" pitchFamily="18" charset="0"/>
              </a:rPr>
              <a:t>raceability, which means the ability for the group manager to reveal the identity of the signer based on verification metadata in some special situations.</a:t>
            </a: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endParaRPr lang="en-IN" dirty="0"/>
          </a:p>
        </p:txBody>
      </p:sp>
    </p:spTree>
    <p:extLst>
      <p:ext uri="{BB962C8B-B14F-4D97-AF65-F5344CB8AC3E}">
        <p14:creationId xmlns:p14="http://schemas.microsoft.com/office/powerpoint/2010/main" val="345044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5"/>
          <p:cNvSpPr txBox="1">
            <a:spLocks noGrp="1"/>
          </p:cNvSpPr>
          <p:nvPr>
            <p:ph type="ctrTitle"/>
          </p:nvPr>
        </p:nvSpPr>
        <p:spPr>
          <a:xfrm>
            <a:off x="0" y="823697"/>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dirty="0">
                <a:latin typeface="Times New Roman"/>
                <a:ea typeface="Times New Roman"/>
                <a:cs typeface="Times New Roman"/>
                <a:sym typeface="Times New Roman"/>
              </a:rPr>
              <a:t>Literature Survey</a:t>
            </a:r>
            <a:endParaRPr sz="3200" dirty="0">
              <a:latin typeface="Cambria"/>
              <a:ea typeface="Cambria"/>
              <a:cs typeface="Cambria"/>
              <a:sym typeface="Cambria"/>
            </a:endParaRPr>
          </a:p>
        </p:txBody>
      </p:sp>
      <p:pic>
        <p:nvPicPr>
          <p:cNvPr id="150" name="Google Shape;150;p5" descr="logo.png"/>
          <p:cNvPicPr preferRelativeResize="0"/>
          <p:nvPr/>
        </p:nvPicPr>
        <p:blipFill rotWithShape="1">
          <a:blip r:embed="rId3">
            <a:alphaModFix/>
          </a:blip>
          <a:srcRect/>
          <a:stretch/>
        </p:blipFill>
        <p:spPr>
          <a:xfrm>
            <a:off x="121300" y="-67168"/>
            <a:ext cx="976320" cy="846855"/>
          </a:xfrm>
          <a:prstGeom prst="rect">
            <a:avLst/>
          </a:prstGeom>
          <a:noFill/>
          <a:ln>
            <a:noFill/>
          </a:ln>
        </p:spPr>
      </p:pic>
      <p:pic>
        <p:nvPicPr>
          <p:cNvPr id="151" name="Google Shape;151;p5"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52" name="Google Shape;152;p5"/>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53" name="Google Shape;153;p5"/>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155" name="Google Shape;155;p5"/>
          <p:cNvSpPr txBox="1"/>
          <p:nvPr/>
        </p:nvSpPr>
        <p:spPr>
          <a:xfrm>
            <a:off x="383240" y="2573960"/>
            <a:ext cx="8377500"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500" b="1" dirty="0">
                <a:solidFill>
                  <a:schemeClr val="dk1"/>
                </a:solidFill>
                <a:latin typeface="Arial"/>
                <a:ea typeface="Arial"/>
                <a:cs typeface="Arial"/>
                <a:sym typeface="Arial"/>
              </a:rPr>
            </a:br>
            <a:endParaRPr sz="1500" b="0" dirty="0">
              <a:solidFill>
                <a:schemeClr val="dk1"/>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6B1FAE79-5933-0CEC-88FD-50F1BD5C7FFA}"/>
              </a:ext>
            </a:extLst>
          </p:cNvPr>
          <p:cNvGraphicFramePr>
            <a:graphicFrameLocks noGrp="1"/>
          </p:cNvGraphicFramePr>
          <p:nvPr>
            <p:extLst>
              <p:ext uri="{D42A27DB-BD31-4B8C-83A1-F6EECF244321}">
                <p14:modId xmlns:p14="http://schemas.microsoft.com/office/powerpoint/2010/main" val="4086129225"/>
              </p:ext>
            </p:extLst>
          </p:nvPr>
        </p:nvGraphicFramePr>
        <p:xfrm>
          <a:off x="0" y="1661019"/>
          <a:ext cx="9143999" cy="4977183"/>
        </p:xfrm>
        <a:graphic>
          <a:graphicData uri="http://schemas.openxmlformats.org/drawingml/2006/table">
            <a:tbl>
              <a:tblPr firstRow="1" bandRow="1">
                <a:tableStyleId>{775DCB02-9BB8-47FD-8907-85C794F793BA}</a:tableStyleId>
              </a:tblPr>
              <a:tblGrid>
                <a:gridCol w="693825">
                  <a:extLst>
                    <a:ext uri="{9D8B030D-6E8A-4147-A177-3AD203B41FA5}">
                      <a16:colId xmlns:a16="http://schemas.microsoft.com/office/drawing/2014/main" val="2334455151"/>
                    </a:ext>
                  </a:extLst>
                </a:gridCol>
                <a:gridCol w="1149472">
                  <a:extLst>
                    <a:ext uri="{9D8B030D-6E8A-4147-A177-3AD203B41FA5}">
                      <a16:colId xmlns:a16="http://schemas.microsoft.com/office/drawing/2014/main" val="1140398536"/>
                    </a:ext>
                  </a:extLst>
                </a:gridCol>
                <a:gridCol w="1674344">
                  <a:extLst>
                    <a:ext uri="{9D8B030D-6E8A-4147-A177-3AD203B41FA5}">
                      <a16:colId xmlns:a16="http://schemas.microsoft.com/office/drawing/2014/main" val="2232591625"/>
                    </a:ext>
                  </a:extLst>
                </a:gridCol>
                <a:gridCol w="2491273">
                  <a:extLst>
                    <a:ext uri="{9D8B030D-6E8A-4147-A177-3AD203B41FA5}">
                      <a16:colId xmlns:a16="http://schemas.microsoft.com/office/drawing/2014/main" val="1546159923"/>
                    </a:ext>
                  </a:extLst>
                </a:gridCol>
                <a:gridCol w="1530221">
                  <a:extLst>
                    <a:ext uri="{9D8B030D-6E8A-4147-A177-3AD203B41FA5}">
                      <a16:colId xmlns:a16="http://schemas.microsoft.com/office/drawing/2014/main" val="2553037560"/>
                    </a:ext>
                  </a:extLst>
                </a:gridCol>
                <a:gridCol w="1604864">
                  <a:extLst>
                    <a:ext uri="{9D8B030D-6E8A-4147-A177-3AD203B41FA5}">
                      <a16:colId xmlns:a16="http://schemas.microsoft.com/office/drawing/2014/main" val="545792651"/>
                    </a:ext>
                  </a:extLst>
                </a:gridCol>
              </a:tblGrid>
              <a:tr h="363724">
                <a:tc>
                  <a:txBody>
                    <a:bodyPr/>
                    <a:lstStyle/>
                    <a:p>
                      <a:r>
                        <a:rPr lang="en-US" dirty="0"/>
                        <a:t>Year</a:t>
                      </a:r>
                      <a:endParaRPr lang="en-IN" dirty="0"/>
                    </a:p>
                  </a:txBody>
                  <a:tcPr/>
                </a:tc>
                <a:tc>
                  <a:txBody>
                    <a:bodyPr/>
                    <a:lstStyle/>
                    <a:p>
                      <a:r>
                        <a:rPr lang="en-US" dirty="0"/>
                        <a:t>Authors</a:t>
                      </a:r>
                      <a:endParaRPr lang="en-IN" dirty="0"/>
                    </a:p>
                  </a:txBody>
                  <a:tcPr/>
                </a:tc>
                <a:tc>
                  <a:txBody>
                    <a:bodyPr/>
                    <a:lstStyle/>
                    <a:p>
                      <a:r>
                        <a:rPr lang="en-US" dirty="0"/>
                        <a:t>Title</a:t>
                      </a:r>
                      <a:endParaRPr lang="en-IN" dirty="0"/>
                    </a:p>
                  </a:txBody>
                  <a:tcPr/>
                </a:tc>
                <a:tc>
                  <a:txBody>
                    <a:bodyPr/>
                    <a:lstStyle/>
                    <a:p>
                      <a:r>
                        <a:rPr lang="en-US" dirty="0"/>
                        <a:t>Methodology</a:t>
                      </a:r>
                      <a:endParaRPr lang="en-IN" dirty="0"/>
                    </a:p>
                  </a:txBody>
                  <a:tcPr/>
                </a:tc>
                <a:tc>
                  <a:txBody>
                    <a:bodyPr/>
                    <a:lstStyle/>
                    <a:p>
                      <a:r>
                        <a:rPr lang="en-US" dirty="0"/>
                        <a:t>Features </a:t>
                      </a:r>
                      <a:endParaRPr lang="en-IN" dirty="0"/>
                    </a:p>
                  </a:txBody>
                  <a:tcPr/>
                </a:tc>
                <a:tc>
                  <a:txBody>
                    <a:bodyPr/>
                    <a:lstStyle/>
                    <a:p>
                      <a:r>
                        <a:rPr lang="en-US" dirty="0"/>
                        <a:t>Advantages</a:t>
                      </a:r>
                      <a:endParaRPr lang="en-IN" dirty="0"/>
                    </a:p>
                  </a:txBody>
                  <a:tcPr/>
                </a:tc>
                <a:extLst>
                  <a:ext uri="{0D108BD9-81ED-4DB2-BD59-A6C34878D82A}">
                    <a16:rowId xmlns:a16="http://schemas.microsoft.com/office/drawing/2014/main" val="3818717171"/>
                  </a:ext>
                </a:extLst>
              </a:tr>
              <a:tr h="2162952">
                <a:tc>
                  <a:txBody>
                    <a:bodyPr/>
                    <a:lstStyle/>
                    <a:p>
                      <a:r>
                        <a:rPr lang="en-US" dirty="0"/>
                        <a:t>2010</a:t>
                      </a:r>
                      <a:endParaRPr lang="en-IN" dirty="0"/>
                    </a:p>
                  </a:txBody>
                  <a:tcPr/>
                </a:tc>
                <a:tc>
                  <a:txBody>
                    <a:bodyPr/>
                    <a:lstStyle/>
                    <a:p>
                      <a:r>
                        <a:rPr lang="en-IN" sz="1400" b="0" i="0" u="none" strike="noStrike" cap="none" dirty="0">
                          <a:solidFill>
                            <a:schemeClr val="dk1"/>
                          </a:solidFill>
                          <a:effectLst/>
                          <a:latin typeface="+mn-lt"/>
                          <a:ea typeface="+mn-ea"/>
                          <a:cs typeface="+mn-cs"/>
                          <a:sym typeface="Arial"/>
                        </a:rPr>
                        <a:t>Cong Wang, Qian Wang</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Privacy-Preserving Public Auditing for Data Storage Security in Cloud Computing</a:t>
                      </a:r>
                      <a:endParaRPr lang="en-IN" b="0" dirty="0"/>
                    </a:p>
                  </a:txBody>
                  <a:tcPr/>
                </a:tc>
                <a:tc>
                  <a:txBody>
                    <a:bodyPr/>
                    <a:lstStyle/>
                    <a:p>
                      <a:r>
                        <a:rPr lang="en-US" sz="1400" b="0" i="0" u="none" strike="noStrike" cap="none" dirty="0">
                          <a:solidFill>
                            <a:schemeClr val="dk1"/>
                          </a:solidFill>
                          <a:effectLst/>
                          <a:latin typeface="+mn-lt"/>
                          <a:ea typeface="+mn-ea"/>
                          <a:cs typeface="+mn-cs"/>
                          <a:sym typeface="Arial"/>
                        </a:rPr>
                        <a:t>Use public key-based homomorphic authenticator.</a:t>
                      </a:r>
                    </a:p>
                    <a:p>
                      <a:r>
                        <a:rPr lang="en-US" sz="1400" b="0" i="0" u="none" strike="noStrike" cap="none" dirty="0">
                          <a:solidFill>
                            <a:schemeClr val="dk1"/>
                          </a:solidFill>
                          <a:effectLst/>
                          <a:latin typeface="+mn-lt"/>
                          <a:ea typeface="+mn-ea"/>
                          <a:cs typeface="+mn-cs"/>
                          <a:sym typeface="Arial"/>
                        </a:rPr>
                        <a:t>Integrate random mask technique for privacy preservation.</a:t>
                      </a:r>
                    </a:p>
                    <a:p>
                      <a:r>
                        <a:rPr lang="en-US" sz="1400" b="0" i="0" u="none" strike="noStrike" cap="none" dirty="0">
                          <a:solidFill>
                            <a:schemeClr val="dk1"/>
                          </a:solidFill>
                          <a:effectLst/>
                          <a:latin typeface="+mn-lt"/>
                          <a:ea typeface="+mn-ea"/>
                          <a:cs typeface="+mn-cs"/>
                          <a:sym typeface="Arial"/>
                        </a:rPr>
                        <a:t>Explore bilinear aggregate signature for efficient handling of multiple auditing tasks.</a:t>
                      </a:r>
                      <a:endParaRPr lang="en-IN" dirty="0"/>
                    </a:p>
                  </a:txBody>
                  <a:tcPr/>
                </a:tc>
                <a:tc>
                  <a:txBody>
                    <a:bodyPr/>
                    <a:lstStyle/>
                    <a:p>
                      <a:r>
                        <a:rPr lang="en-IN" sz="1400" b="0" i="0" u="none" strike="noStrike" cap="none" dirty="0">
                          <a:solidFill>
                            <a:schemeClr val="dk1"/>
                          </a:solidFill>
                          <a:effectLst/>
                          <a:latin typeface="+mn-lt"/>
                          <a:ea typeface="+mn-ea"/>
                          <a:cs typeface="+mn-cs"/>
                          <a:sym typeface="Arial"/>
                        </a:rPr>
                        <a:t>Privacy-preserving public auditing system.</a:t>
                      </a:r>
                    </a:p>
                    <a:p>
                      <a:r>
                        <a:rPr lang="en-US" sz="1400" b="0" i="0" u="none" strike="noStrike" cap="none" dirty="0">
                          <a:solidFill>
                            <a:schemeClr val="dk1"/>
                          </a:solidFill>
                          <a:effectLst/>
                          <a:latin typeface="+mn-lt"/>
                          <a:ea typeface="+mn-ea"/>
                          <a:cs typeface="+mn-cs"/>
                          <a:sym typeface="Arial"/>
                        </a:rPr>
                        <a:t>Efficient auditing without local data copy.</a:t>
                      </a:r>
                    </a:p>
                    <a:p>
                      <a:r>
                        <a:rPr lang="en-US" sz="1400" b="0" i="0" u="none" strike="noStrike" cap="none" dirty="0">
                          <a:solidFill>
                            <a:schemeClr val="dk1"/>
                          </a:solidFill>
                          <a:effectLst/>
                          <a:latin typeface="+mn-lt"/>
                          <a:ea typeface="+mn-ea"/>
                          <a:cs typeface="+mn-cs"/>
                          <a:sym typeface="Arial"/>
                        </a:rPr>
                        <a:t>No additional online burden for the cloud user.</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Preserves data privacy during public auditing.</a:t>
                      </a:r>
                    </a:p>
                    <a:p>
                      <a:r>
                        <a:rPr lang="en-US" sz="1400" b="0" i="0" u="none" strike="noStrike" cap="none" dirty="0">
                          <a:solidFill>
                            <a:schemeClr val="dk1"/>
                          </a:solidFill>
                          <a:effectLst/>
                          <a:latin typeface="+mn-lt"/>
                          <a:ea typeface="+mn-ea"/>
                          <a:cs typeface="+mn-cs"/>
                          <a:sym typeface="Arial"/>
                        </a:rPr>
                        <a:t>Enables efficient auditing without local data possession.</a:t>
                      </a:r>
                    </a:p>
                    <a:p>
                      <a:r>
                        <a:rPr lang="en-IN" sz="1400" b="0" i="0" u="none" strike="noStrike" cap="none" dirty="0">
                          <a:solidFill>
                            <a:schemeClr val="dk1"/>
                          </a:solidFill>
                          <a:effectLst/>
                          <a:latin typeface="+mn-lt"/>
                          <a:ea typeface="+mn-ea"/>
                          <a:cs typeface="+mn-cs"/>
                          <a:sym typeface="Arial"/>
                        </a:rPr>
                        <a:t>Minimizes online burden for the cloud user</a:t>
                      </a:r>
                      <a:endParaRPr lang="en-IN" dirty="0"/>
                    </a:p>
                  </a:txBody>
                  <a:tcPr/>
                </a:tc>
                <a:extLst>
                  <a:ext uri="{0D108BD9-81ED-4DB2-BD59-A6C34878D82A}">
                    <a16:rowId xmlns:a16="http://schemas.microsoft.com/office/drawing/2014/main" val="3529771496"/>
                  </a:ext>
                </a:extLst>
              </a:tr>
              <a:tr h="2388419">
                <a:tc>
                  <a:txBody>
                    <a:bodyPr/>
                    <a:lstStyle/>
                    <a:p>
                      <a:r>
                        <a:rPr lang="en-US" dirty="0"/>
                        <a:t>2015</a:t>
                      </a:r>
                      <a:endParaRPr lang="en-IN" dirty="0"/>
                    </a:p>
                  </a:txBody>
                  <a:tcPr/>
                </a:tc>
                <a:tc>
                  <a:txBody>
                    <a:bodyPr/>
                    <a:lstStyle/>
                    <a:p>
                      <a:r>
                        <a:rPr lang="nl-NL" sz="1400" b="0" i="0" u="none" strike="noStrike" cap="none" dirty="0">
                          <a:solidFill>
                            <a:schemeClr val="dk1"/>
                          </a:solidFill>
                          <a:effectLst/>
                          <a:latin typeface="+mn-lt"/>
                          <a:ea typeface="+mn-ea"/>
                          <a:cs typeface="+mn-cs"/>
                          <a:sym typeface="Arial"/>
                        </a:rPr>
                        <a:t>Jia Yu, Kui Ren, Cong Wang</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Enabling cloud storage auditing with key-exposure resistance</a:t>
                      </a:r>
                      <a:endParaRPr lang="en-IN" b="0" dirty="0"/>
                    </a:p>
                  </a:txBody>
                  <a:tcPr/>
                </a:tc>
                <a:tc>
                  <a:txBody>
                    <a:bodyPr/>
                    <a:lstStyle/>
                    <a:p>
                      <a:r>
                        <a:rPr lang="en-US" sz="1400" b="0" i="0" u="none" strike="noStrike" cap="none" dirty="0">
                          <a:solidFill>
                            <a:schemeClr val="dk1"/>
                          </a:solidFill>
                          <a:effectLst/>
                          <a:latin typeface="+mn-lt"/>
                          <a:ea typeface="+mn-ea"/>
                          <a:cs typeface="+mn-cs"/>
                          <a:sym typeface="Arial"/>
                        </a:rPr>
                        <a:t>Investigate key-exposure in cloud storage auditing. Formalize definition and security model. </a:t>
                      </a:r>
                    </a:p>
                    <a:p>
                      <a:r>
                        <a:rPr lang="en-US" sz="1400" b="0" i="0" u="none" strike="noStrike" cap="none" dirty="0">
                          <a:solidFill>
                            <a:schemeClr val="dk1"/>
                          </a:solidFill>
                          <a:effectLst/>
                          <a:latin typeface="+mn-lt"/>
                          <a:ea typeface="+mn-ea"/>
                          <a:cs typeface="+mn-cs"/>
                          <a:sym typeface="Arial"/>
                        </a:rPr>
                        <a:t>Employ binary tree structure and preorder traversal.</a:t>
                      </a:r>
                    </a:p>
                    <a:p>
                      <a:r>
                        <a:rPr lang="en-US" sz="1400" b="0" i="0" u="none" strike="noStrike" cap="none" dirty="0">
                          <a:solidFill>
                            <a:schemeClr val="dk1"/>
                          </a:solidFill>
                          <a:effectLst/>
                          <a:latin typeface="+mn-lt"/>
                          <a:ea typeface="+mn-ea"/>
                          <a:cs typeface="+mn-cs"/>
                          <a:sym typeface="Arial"/>
                        </a:rPr>
                        <a:t>Develop novel authenticator for forward security and </a:t>
                      </a:r>
                      <a:r>
                        <a:rPr lang="en-US" sz="1400" b="0" i="0" u="none" strike="noStrike" cap="none" dirty="0" err="1">
                          <a:solidFill>
                            <a:schemeClr val="dk1"/>
                          </a:solidFill>
                          <a:effectLst/>
                          <a:latin typeface="+mn-lt"/>
                          <a:ea typeface="+mn-ea"/>
                          <a:cs typeface="+mn-cs"/>
                          <a:sym typeface="Arial"/>
                        </a:rPr>
                        <a:t>blockless</a:t>
                      </a:r>
                      <a:r>
                        <a:rPr lang="en-US" sz="1400" b="0" i="0" u="none" strike="noStrike" cap="none" dirty="0">
                          <a:solidFill>
                            <a:schemeClr val="dk1"/>
                          </a:solidFill>
                          <a:effectLst/>
                          <a:latin typeface="+mn-lt"/>
                          <a:ea typeface="+mn-ea"/>
                          <a:cs typeface="+mn-cs"/>
                          <a:sym typeface="Arial"/>
                        </a:rPr>
                        <a:t> verifiability.</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First practical solution for key-exposure in cloud storage auditing.</a:t>
                      </a:r>
                    </a:p>
                    <a:p>
                      <a:r>
                        <a:rPr lang="en-US" sz="1400" b="0" i="0" u="none" strike="noStrike" cap="none" dirty="0">
                          <a:solidFill>
                            <a:schemeClr val="dk1"/>
                          </a:solidFill>
                          <a:effectLst/>
                          <a:latin typeface="+mn-lt"/>
                          <a:ea typeface="+mn-ea"/>
                          <a:cs typeface="+mn-cs"/>
                          <a:sym typeface="Arial"/>
                        </a:rPr>
                        <a:t>Security proof and performance analysis provided.</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Enhances security by addressing key exposure. </a:t>
                      </a:r>
                    </a:p>
                    <a:p>
                      <a:r>
                        <a:rPr lang="en-US" sz="1400" b="0" i="0" u="none" strike="noStrike" cap="none" dirty="0">
                          <a:solidFill>
                            <a:schemeClr val="dk1"/>
                          </a:solidFill>
                          <a:effectLst/>
                          <a:latin typeface="+mn-lt"/>
                          <a:ea typeface="+mn-ea"/>
                          <a:cs typeface="+mn-cs"/>
                          <a:sym typeface="Arial"/>
                        </a:rPr>
                        <a:t>Provides a practical solution to a new problem setting.</a:t>
                      </a:r>
                      <a:endParaRPr lang="en-IN" dirty="0"/>
                    </a:p>
                  </a:txBody>
                  <a:tcPr/>
                </a:tc>
                <a:extLst>
                  <a:ext uri="{0D108BD9-81ED-4DB2-BD59-A6C34878D82A}">
                    <a16:rowId xmlns:a16="http://schemas.microsoft.com/office/drawing/2014/main" val="424603263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4CA4-ACAE-4BBC-9045-EE2417058D87}"/>
              </a:ext>
            </a:extLst>
          </p:cNvPr>
          <p:cNvSpPr>
            <a:spLocks noGrp="1"/>
          </p:cNvSpPr>
          <p:nvPr>
            <p:ph type="title"/>
          </p:nvPr>
        </p:nvSpPr>
        <p:spPr>
          <a:xfrm>
            <a:off x="93306" y="-42893"/>
            <a:ext cx="8229600" cy="1143000"/>
          </a:xfrm>
        </p:spPr>
        <p:txBody>
          <a:bodyPr/>
          <a:lstStyle/>
          <a:p>
            <a:pPr marL="0" marR="0" lvl="0" indent="0" rtl="0">
              <a:spcBef>
                <a:spcPts val="0"/>
              </a:spcBef>
              <a:spcAft>
                <a:spcPts val="0"/>
              </a:spcAft>
            </a:pPr>
            <a:r>
              <a:rPr lang="en-US" sz="2000" b="1" dirty="0">
                <a:solidFill>
                  <a:srgbClr val="002060"/>
                </a:solidFill>
                <a:latin typeface="Times New Roman" panose="02020603050405020304" pitchFamily="18" charset="0"/>
                <a:ea typeface="Times New Roman"/>
                <a:cs typeface="Times New Roman" panose="02020603050405020304" pitchFamily="18" charset="0"/>
                <a:sym typeface="Times New Roman"/>
              </a:rPr>
              <a:t>MATRUSRI ENGINEERING COLLEGE</a:t>
            </a:r>
            <a:br>
              <a:rPr lang="en-US" sz="2000" dirty="0">
                <a:latin typeface="Times New Roman" panose="02020603050405020304" pitchFamily="18" charset="0"/>
                <a:cs typeface="Times New Roman" panose="02020603050405020304" pitchFamily="18" charset="0"/>
              </a:rPr>
            </a:br>
            <a:r>
              <a:rPr lang="en-US" sz="2000" b="1" dirty="0">
                <a:solidFill>
                  <a:srgbClr val="002060"/>
                </a:solidFill>
                <a:latin typeface="Times New Roman" panose="02020603050405020304" pitchFamily="18" charset="0"/>
                <a:ea typeface="Times New Roman"/>
                <a:cs typeface="Times New Roman" panose="02020603050405020304" pitchFamily="18" charset="0"/>
                <a:sym typeface="Times New Roman"/>
              </a:rPr>
              <a:t>            Department of CSE </a:t>
            </a:r>
            <a:br>
              <a:rPr lang="en-US" sz="1400" b="1" dirty="0">
                <a:solidFill>
                  <a:schemeClr val="dk1"/>
                </a:solidFill>
                <a:latin typeface="Times New Roman"/>
                <a:ea typeface="Times New Roman"/>
                <a:cs typeface="Times New Roman"/>
                <a:sym typeface="Times New Roman"/>
              </a:rPr>
            </a:br>
            <a:endParaRPr lang="en-IN" sz="1400" dirty="0"/>
          </a:p>
        </p:txBody>
      </p:sp>
      <p:sp>
        <p:nvSpPr>
          <p:cNvPr id="3" name="Slide Number Placeholder 2">
            <a:extLst>
              <a:ext uri="{FF2B5EF4-FFF2-40B4-BE49-F238E27FC236}">
                <a16:creationId xmlns:a16="http://schemas.microsoft.com/office/drawing/2014/main" id="{207DFA6D-0313-B756-06D9-63C294C6B38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9</a:t>
            </a:fld>
            <a:endParaRPr/>
          </a:p>
        </p:txBody>
      </p:sp>
      <p:pic>
        <p:nvPicPr>
          <p:cNvPr id="4" name="Google Shape;95;p1">
            <a:extLst>
              <a:ext uri="{FF2B5EF4-FFF2-40B4-BE49-F238E27FC236}">
                <a16:creationId xmlns:a16="http://schemas.microsoft.com/office/drawing/2014/main" id="{11F40834-164D-C674-FC62-00B5D2309878}"/>
              </a:ext>
            </a:extLst>
          </p:cNvPr>
          <p:cNvPicPr preferRelativeResize="0"/>
          <p:nvPr/>
        </p:nvPicPr>
        <p:blipFill rotWithShape="1">
          <a:blip r:embed="rId2">
            <a:alphaModFix/>
          </a:blip>
          <a:srcRect/>
          <a:stretch/>
        </p:blipFill>
        <p:spPr>
          <a:xfrm>
            <a:off x="8038965" y="14512"/>
            <a:ext cx="793750" cy="765175"/>
          </a:xfrm>
          <a:prstGeom prst="rect">
            <a:avLst/>
          </a:prstGeom>
          <a:noFill/>
          <a:ln>
            <a:noFill/>
          </a:ln>
        </p:spPr>
      </p:pic>
      <p:pic>
        <p:nvPicPr>
          <p:cNvPr id="5" name="Google Shape;90;p1" descr="NBA LOGO.png">
            <a:extLst>
              <a:ext uri="{FF2B5EF4-FFF2-40B4-BE49-F238E27FC236}">
                <a16:creationId xmlns:a16="http://schemas.microsoft.com/office/drawing/2014/main" id="{C761BADD-57E8-85F4-E4C3-2E3EB309D877}"/>
              </a:ext>
            </a:extLst>
          </p:cNvPr>
          <p:cNvPicPr preferRelativeResize="0"/>
          <p:nvPr/>
        </p:nvPicPr>
        <p:blipFill rotWithShape="1">
          <a:blip r:embed="rId3">
            <a:alphaModFix/>
          </a:blip>
          <a:srcRect/>
          <a:stretch/>
        </p:blipFill>
        <p:spPr>
          <a:xfrm>
            <a:off x="6965939" y="0"/>
            <a:ext cx="885825" cy="794201"/>
          </a:xfrm>
          <a:prstGeom prst="rect">
            <a:avLst/>
          </a:prstGeom>
          <a:noFill/>
          <a:ln>
            <a:noFill/>
          </a:ln>
        </p:spPr>
      </p:pic>
      <p:pic>
        <p:nvPicPr>
          <p:cNvPr id="6" name="Google Shape;89;p1" descr="logo.png">
            <a:extLst>
              <a:ext uri="{FF2B5EF4-FFF2-40B4-BE49-F238E27FC236}">
                <a16:creationId xmlns:a16="http://schemas.microsoft.com/office/drawing/2014/main" id="{C16C8294-8B3A-1A49-16A8-0F9E0BBD856F}"/>
              </a:ext>
            </a:extLst>
          </p:cNvPr>
          <p:cNvPicPr preferRelativeResize="0"/>
          <p:nvPr/>
        </p:nvPicPr>
        <p:blipFill rotWithShape="1">
          <a:blip r:embed="rId4">
            <a:alphaModFix/>
          </a:blip>
          <a:srcRect/>
          <a:stretch/>
        </p:blipFill>
        <p:spPr>
          <a:xfrm>
            <a:off x="208647" y="-42893"/>
            <a:ext cx="1060571" cy="866590"/>
          </a:xfrm>
          <a:prstGeom prst="rect">
            <a:avLst/>
          </a:prstGeom>
          <a:noFill/>
          <a:ln>
            <a:noFill/>
          </a:ln>
        </p:spPr>
      </p:pic>
      <p:sp>
        <p:nvSpPr>
          <p:cNvPr id="7" name="Google Shape;178;g2a788f1400f_0_17">
            <a:extLst>
              <a:ext uri="{FF2B5EF4-FFF2-40B4-BE49-F238E27FC236}">
                <a16:creationId xmlns:a16="http://schemas.microsoft.com/office/drawing/2014/main" id="{037D6BEF-9F25-AD40-8389-6B7A85C0DEA9}"/>
              </a:ext>
            </a:extLst>
          </p:cNvPr>
          <p:cNvSpPr txBox="1">
            <a:spLocks/>
          </p:cNvSpPr>
          <p:nvPr/>
        </p:nvSpPr>
        <p:spPr>
          <a:xfrm>
            <a:off x="0" y="823697"/>
            <a:ext cx="9144000" cy="576000"/>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2900" dirty="0">
                <a:solidFill>
                  <a:schemeClr val="tx1"/>
                </a:solidFill>
                <a:latin typeface="Times New Roman"/>
                <a:ea typeface="Cambria"/>
                <a:cs typeface="Times New Roman"/>
                <a:sym typeface="Times New Roman"/>
              </a:rPr>
              <a:t>Literature Survey</a:t>
            </a:r>
            <a:endParaRPr lang="en-US" sz="2900" dirty="0">
              <a:solidFill>
                <a:schemeClr val="tx1"/>
              </a:solidFill>
              <a:latin typeface="Cambria"/>
              <a:ea typeface="Cambria"/>
              <a:cs typeface="Cambria"/>
              <a:sym typeface="Cambria"/>
            </a:endParaRPr>
          </a:p>
        </p:txBody>
      </p:sp>
      <p:graphicFrame>
        <p:nvGraphicFramePr>
          <p:cNvPr id="8" name="Table 7">
            <a:extLst>
              <a:ext uri="{FF2B5EF4-FFF2-40B4-BE49-F238E27FC236}">
                <a16:creationId xmlns:a16="http://schemas.microsoft.com/office/drawing/2014/main" id="{03218A01-DCA9-5BC1-F2A2-A3CC83B9CE90}"/>
              </a:ext>
            </a:extLst>
          </p:cNvPr>
          <p:cNvGraphicFramePr>
            <a:graphicFrameLocks noGrp="1"/>
          </p:cNvGraphicFramePr>
          <p:nvPr>
            <p:extLst>
              <p:ext uri="{D42A27DB-BD31-4B8C-83A1-F6EECF244321}">
                <p14:modId xmlns:p14="http://schemas.microsoft.com/office/powerpoint/2010/main" val="311388690"/>
              </p:ext>
            </p:extLst>
          </p:nvPr>
        </p:nvGraphicFramePr>
        <p:xfrm>
          <a:off x="0" y="1860235"/>
          <a:ext cx="9144000" cy="2795556"/>
        </p:xfrm>
        <a:graphic>
          <a:graphicData uri="http://schemas.openxmlformats.org/drawingml/2006/table">
            <a:tbl>
              <a:tblPr firstRow="1" bandRow="1">
                <a:tableStyleId>{775DCB02-9BB8-47FD-8907-85C794F793BA}</a:tableStyleId>
              </a:tblPr>
              <a:tblGrid>
                <a:gridCol w="625151">
                  <a:extLst>
                    <a:ext uri="{9D8B030D-6E8A-4147-A177-3AD203B41FA5}">
                      <a16:colId xmlns:a16="http://schemas.microsoft.com/office/drawing/2014/main" val="2042073352"/>
                    </a:ext>
                  </a:extLst>
                </a:gridCol>
                <a:gridCol w="1184988">
                  <a:extLst>
                    <a:ext uri="{9D8B030D-6E8A-4147-A177-3AD203B41FA5}">
                      <a16:colId xmlns:a16="http://schemas.microsoft.com/office/drawing/2014/main" val="3529095756"/>
                    </a:ext>
                  </a:extLst>
                </a:gridCol>
                <a:gridCol w="1688841">
                  <a:extLst>
                    <a:ext uri="{9D8B030D-6E8A-4147-A177-3AD203B41FA5}">
                      <a16:colId xmlns:a16="http://schemas.microsoft.com/office/drawing/2014/main" val="3883928360"/>
                    </a:ext>
                  </a:extLst>
                </a:gridCol>
                <a:gridCol w="2220685">
                  <a:extLst>
                    <a:ext uri="{9D8B030D-6E8A-4147-A177-3AD203B41FA5}">
                      <a16:colId xmlns:a16="http://schemas.microsoft.com/office/drawing/2014/main" val="2379944633"/>
                    </a:ext>
                  </a:extLst>
                </a:gridCol>
                <a:gridCol w="1838131">
                  <a:extLst>
                    <a:ext uri="{9D8B030D-6E8A-4147-A177-3AD203B41FA5}">
                      <a16:colId xmlns:a16="http://schemas.microsoft.com/office/drawing/2014/main" val="551507174"/>
                    </a:ext>
                  </a:extLst>
                </a:gridCol>
                <a:gridCol w="1586204">
                  <a:extLst>
                    <a:ext uri="{9D8B030D-6E8A-4147-A177-3AD203B41FA5}">
                      <a16:colId xmlns:a16="http://schemas.microsoft.com/office/drawing/2014/main" val="154253186"/>
                    </a:ext>
                  </a:extLst>
                </a:gridCol>
              </a:tblGrid>
              <a:tr h="357156">
                <a:tc>
                  <a:txBody>
                    <a:bodyPr/>
                    <a:lstStyle/>
                    <a:p>
                      <a:r>
                        <a:rPr lang="en-US" dirty="0"/>
                        <a:t>Year</a:t>
                      </a:r>
                      <a:endParaRPr lang="en-IN" dirty="0"/>
                    </a:p>
                  </a:txBody>
                  <a:tcPr/>
                </a:tc>
                <a:tc>
                  <a:txBody>
                    <a:bodyPr/>
                    <a:lstStyle/>
                    <a:p>
                      <a:r>
                        <a:rPr lang="en-US" dirty="0"/>
                        <a:t>Authors</a:t>
                      </a:r>
                      <a:endParaRPr lang="en-IN" dirty="0"/>
                    </a:p>
                  </a:txBody>
                  <a:tcPr/>
                </a:tc>
                <a:tc>
                  <a:txBody>
                    <a:bodyPr/>
                    <a:lstStyle/>
                    <a:p>
                      <a:r>
                        <a:rPr lang="en-US" dirty="0"/>
                        <a:t>Title </a:t>
                      </a:r>
                      <a:endParaRPr lang="en-IN" dirty="0"/>
                    </a:p>
                  </a:txBody>
                  <a:tcPr/>
                </a:tc>
                <a:tc>
                  <a:txBody>
                    <a:bodyPr/>
                    <a:lstStyle/>
                    <a:p>
                      <a:r>
                        <a:rPr lang="en-US" dirty="0"/>
                        <a:t>Methodology</a:t>
                      </a:r>
                      <a:endParaRPr lang="en-IN" dirty="0"/>
                    </a:p>
                  </a:txBody>
                  <a:tcPr/>
                </a:tc>
                <a:tc>
                  <a:txBody>
                    <a:bodyPr/>
                    <a:lstStyle/>
                    <a:p>
                      <a:r>
                        <a:rPr lang="en-US" dirty="0"/>
                        <a:t>Features</a:t>
                      </a:r>
                      <a:endParaRPr lang="en-IN" dirty="0"/>
                    </a:p>
                  </a:txBody>
                  <a:tcPr/>
                </a:tc>
                <a:tc>
                  <a:txBody>
                    <a:bodyPr/>
                    <a:lstStyle/>
                    <a:p>
                      <a:r>
                        <a:rPr lang="en-US" dirty="0"/>
                        <a:t>Advantages</a:t>
                      </a:r>
                      <a:endParaRPr lang="en-IN" dirty="0"/>
                    </a:p>
                  </a:txBody>
                  <a:tcPr/>
                </a:tc>
                <a:extLst>
                  <a:ext uri="{0D108BD9-81ED-4DB2-BD59-A6C34878D82A}">
                    <a16:rowId xmlns:a16="http://schemas.microsoft.com/office/drawing/2014/main" val="10269610"/>
                  </a:ext>
                </a:extLst>
              </a:tr>
              <a:tr h="1129818">
                <a:tc>
                  <a:txBody>
                    <a:bodyPr/>
                    <a:lstStyle/>
                    <a:p>
                      <a:r>
                        <a:rPr lang="en-US" dirty="0"/>
                        <a:t>2022</a:t>
                      </a:r>
                      <a:endParaRPr lang="en-IN" dirty="0"/>
                    </a:p>
                  </a:txBody>
                  <a:tcPr/>
                </a:tc>
                <a:tc>
                  <a:txBody>
                    <a:bodyPr/>
                    <a:lstStyle/>
                    <a:p>
                      <a:r>
                        <a:rPr lang="en-IN" sz="1400" b="0" i="0" u="none" strike="noStrike" cap="none" dirty="0" err="1">
                          <a:solidFill>
                            <a:schemeClr val="dk1"/>
                          </a:solidFill>
                          <a:effectLst/>
                          <a:latin typeface="+mn-lt"/>
                          <a:ea typeface="+mn-ea"/>
                          <a:cs typeface="+mn-cs"/>
                          <a:sym typeface="Arial"/>
                        </a:rPr>
                        <a:t>Yongli</a:t>
                      </a:r>
                      <a:r>
                        <a:rPr lang="en-IN" sz="1400" b="0" i="0" u="none" strike="noStrike" cap="none" dirty="0">
                          <a:solidFill>
                            <a:schemeClr val="dk1"/>
                          </a:solidFill>
                          <a:effectLst/>
                          <a:latin typeface="+mn-lt"/>
                          <a:ea typeface="+mn-ea"/>
                          <a:cs typeface="+mn-cs"/>
                          <a:sym typeface="Arial"/>
                        </a:rPr>
                        <a:t> Tang, </a:t>
                      </a:r>
                      <a:r>
                        <a:rPr lang="en-IN" sz="1400" b="0" i="0" u="none" strike="noStrike" cap="none" dirty="0" err="1">
                          <a:solidFill>
                            <a:schemeClr val="dk1"/>
                          </a:solidFill>
                          <a:effectLst/>
                          <a:latin typeface="+mn-lt"/>
                          <a:ea typeface="+mn-ea"/>
                          <a:cs typeface="+mn-cs"/>
                          <a:sym typeface="Arial"/>
                        </a:rPr>
                        <a:t>Yanpeng</a:t>
                      </a:r>
                      <a:r>
                        <a:rPr lang="en-IN" sz="1400" b="0" i="0" u="none" strike="noStrike" cap="none" dirty="0">
                          <a:solidFill>
                            <a:schemeClr val="dk1"/>
                          </a:solidFill>
                          <a:effectLst/>
                          <a:latin typeface="+mn-lt"/>
                          <a:ea typeface="+mn-ea"/>
                          <a:cs typeface="+mn-cs"/>
                          <a:sym typeface="Arial"/>
                        </a:rPr>
                        <a:t> Ba</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Lattice-Based Public-Key Encryption with Conjunctive Keyword Search in Multi-User Setting for </a:t>
                      </a:r>
                      <a:r>
                        <a:rPr lang="en-US" sz="1400" b="0" i="0" u="none" strike="noStrike" cap="none" dirty="0" err="1">
                          <a:solidFill>
                            <a:schemeClr val="dk1"/>
                          </a:solidFill>
                          <a:effectLst/>
                          <a:latin typeface="+mn-lt"/>
                          <a:ea typeface="+mn-ea"/>
                          <a:cs typeface="+mn-cs"/>
                          <a:sym typeface="Arial"/>
                        </a:rPr>
                        <a:t>IIoT</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Propose a lattice-based PEKS scheme.</a:t>
                      </a:r>
                    </a:p>
                    <a:p>
                      <a:r>
                        <a:rPr lang="en-US" sz="1400" b="0" i="0" u="none" strike="noStrike" cap="none" dirty="0">
                          <a:solidFill>
                            <a:schemeClr val="dk1"/>
                          </a:solidFill>
                          <a:effectLst/>
                          <a:latin typeface="+mn-lt"/>
                          <a:ea typeface="+mn-ea"/>
                          <a:cs typeface="+mn-cs"/>
                          <a:sym typeface="Arial"/>
                        </a:rPr>
                        <a:t>Achieve security against quantum computing attacks. </a:t>
                      </a:r>
                    </a:p>
                    <a:p>
                      <a:r>
                        <a:rPr lang="en-US" sz="1400" b="0" i="0" u="none" strike="noStrike" cap="none" dirty="0">
                          <a:solidFill>
                            <a:schemeClr val="dk1"/>
                          </a:solidFill>
                          <a:effectLst/>
                          <a:latin typeface="+mn-lt"/>
                          <a:ea typeface="+mn-ea"/>
                          <a:cs typeface="+mn-cs"/>
                          <a:sym typeface="Arial"/>
                        </a:rPr>
                        <a:t>Support multi-user and conjunctive keyword search. </a:t>
                      </a:r>
                    </a:p>
                    <a:p>
                      <a:r>
                        <a:rPr lang="en-US" sz="1400" b="0" i="0" u="none" strike="noStrike" cap="none" dirty="0">
                          <a:solidFill>
                            <a:schemeClr val="dk1"/>
                          </a:solidFill>
                          <a:effectLst/>
                          <a:latin typeface="+mn-lt"/>
                          <a:ea typeface="+mn-ea"/>
                          <a:cs typeface="+mn-cs"/>
                          <a:sym typeface="Arial"/>
                        </a:rPr>
                        <a:t>Use broadcast encryption to reduce storage cost.</a:t>
                      </a:r>
                      <a:endParaRPr lang="en-IN" dirty="0"/>
                    </a:p>
                  </a:txBody>
                  <a:tcPr/>
                </a:tc>
                <a:tc>
                  <a:txBody>
                    <a:bodyPr/>
                    <a:lstStyle/>
                    <a:p>
                      <a:r>
                        <a:rPr lang="en-US" sz="1400" b="0" i="0" u="none" strike="noStrike" cap="none" dirty="0">
                          <a:solidFill>
                            <a:schemeClr val="dk1"/>
                          </a:solidFill>
                          <a:effectLst/>
                          <a:latin typeface="+mn-lt"/>
                          <a:ea typeface="+mn-ea"/>
                          <a:cs typeface="+mn-cs"/>
                          <a:sym typeface="Arial"/>
                        </a:rPr>
                        <a:t>Security against quantum computing attacks.</a:t>
                      </a:r>
                    </a:p>
                    <a:p>
                      <a:r>
                        <a:rPr lang="en-US" sz="1400" b="0" i="0" u="none" strike="noStrike" cap="none" dirty="0">
                          <a:solidFill>
                            <a:schemeClr val="dk1"/>
                          </a:solidFill>
                          <a:effectLst/>
                          <a:latin typeface="+mn-lt"/>
                          <a:ea typeface="+mn-ea"/>
                          <a:cs typeface="+mn-cs"/>
                          <a:sym typeface="Arial"/>
                        </a:rPr>
                        <a:t>Support for multi-user and conjunctive keyword search.</a:t>
                      </a:r>
                    </a:p>
                    <a:p>
                      <a:r>
                        <a:rPr lang="en-US" sz="1400" b="0" i="0" u="none" strike="noStrike" cap="none" dirty="0">
                          <a:solidFill>
                            <a:schemeClr val="dk1"/>
                          </a:solidFill>
                          <a:effectLst/>
                          <a:latin typeface="+mn-lt"/>
                          <a:ea typeface="+mn-ea"/>
                          <a:cs typeface="+mn-cs"/>
                          <a:sym typeface="Arial"/>
                        </a:rPr>
                        <a:t>Reduced storage cost through broadcast encryption.</a:t>
                      </a:r>
                      <a:endParaRPr lang="en-IN" dirty="0"/>
                    </a:p>
                  </a:txBody>
                  <a:tcPr/>
                </a:tc>
                <a:tc>
                  <a:txBody>
                    <a:bodyPr/>
                    <a:lstStyle/>
                    <a:p>
                      <a:r>
                        <a:rPr lang="en-IN" sz="1400" b="0" i="0" u="none" strike="noStrike" cap="none" dirty="0">
                          <a:solidFill>
                            <a:schemeClr val="dk1"/>
                          </a:solidFill>
                          <a:effectLst/>
                          <a:latin typeface="+mn-lt"/>
                          <a:ea typeface="+mn-ea"/>
                          <a:cs typeface="+mn-cs"/>
                          <a:sym typeface="Arial"/>
                        </a:rPr>
                        <a:t>Addresses quantum computing threats.</a:t>
                      </a:r>
                    </a:p>
                    <a:p>
                      <a:r>
                        <a:rPr lang="en-US" sz="1400" b="0" i="0" u="none" strike="noStrike" cap="none" dirty="0">
                          <a:solidFill>
                            <a:schemeClr val="dk1"/>
                          </a:solidFill>
                          <a:effectLst/>
                          <a:latin typeface="+mn-lt"/>
                          <a:ea typeface="+mn-ea"/>
                          <a:cs typeface="+mn-cs"/>
                          <a:sym typeface="Arial"/>
                        </a:rPr>
                        <a:t>Supports multi-user scenarios and conjunctive keyword search. </a:t>
                      </a:r>
                    </a:p>
                    <a:p>
                      <a:r>
                        <a:rPr lang="en-US" sz="1400" b="0" i="0" u="none" strike="noStrike" cap="none" dirty="0">
                          <a:solidFill>
                            <a:schemeClr val="dk1"/>
                          </a:solidFill>
                          <a:effectLst/>
                          <a:latin typeface="+mn-lt"/>
                          <a:ea typeface="+mn-ea"/>
                          <a:cs typeface="+mn-cs"/>
                          <a:sym typeface="Arial"/>
                        </a:rPr>
                        <a:t>Reduces storage costs in a multi-user setting.</a:t>
                      </a:r>
                      <a:endParaRPr lang="en-IN" dirty="0"/>
                    </a:p>
                  </a:txBody>
                  <a:tcPr/>
                </a:tc>
                <a:extLst>
                  <a:ext uri="{0D108BD9-81ED-4DB2-BD59-A6C34878D82A}">
                    <a16:rowId xmlns:a16="http://schemas.microsoft.com/office/drawing/2014/main" val="2265305011"/>
                  </a:ext>
                </a:extLst>
              </a:tr>
            </a:tbl>
          </a:graphicData>
        </a:graphic>
      </p:graphicFrame>
    </p:spTree>
    <p:extLst>
      <p:ext uri="{BB962C8B-B14F-4D97-AF65-F5344CB8AC3E}">
        <p14:creationId xmlns:p14="http://schemas.microsoft.com/office/powerpoint/2010/main" val="307349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D916E51F-E39B-B2C5-BC19-6CE48B2AF4DA}"/>
            </a:ext>
          </a:extLst>
        </p:cNvPr>
        <p:cNvGrpSpPr/>
        <p:nvPr/>
      </p:nvGrpSpPr>
      <p:grpSpPr>
        <a:xfrm>
          <a:off x="0" y="0"/>
          <a:ext cx="0" cy="0"/>
          <a:chOff x="0" y="0"/>
          <a:chExt cx="0" cy="0"/>
        </a:xfrm>
      </p:grpSpPr>
      <p:sp>
        <p:nvSpPr>
          <p:cNvPr id="178" name="Google Shape;178;g2a788f1400f_0_17">
            <a:extLst>
              <a:ext uri="{FF2B5EF4-FFF2-40B4-BE49-F238E27FC236}">
                <a16:creationId xmlns:a16="http://schemas.microsoft.com/office/drawing/2014/main" id="{C709B0C2-E1BE-DF0C-918D-B29C08EA7866}"/>
              </a:ext>
            </a:extLst>
          </p:cNvPr>
          <p:cNvSpPr txBox="1">
            <a:spLocks noGrp="1"/>
          </p:cNvSpPr>
          <p:nvPr>
            <p:ph type="ctrTitle"/>
          </p:nvPr>
        </p:nvSpPr>
        <p:spPr>
          <a:xfrm>
            <a:off x="0" y="794897"/>
            <a:ext cx="9144000" cy="633600"/>
          </a:xfrm>
          <a:prstGeom prst="rect">
            <a:avLst/>
          </a:prstGeom>
          <a:solidFill>
            <a:srgbClr val="B2A0C7"/>
          </a:soli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sz="3200">
                <a:latin typeface="Times New Roman"/>
                <a:ea typeface="Times New Roman"/>
                <a:cs typeface="Times New Roman"/>
                <a:sym typeface="Times New Roman"/>
              </a:rPr>
              <a:t>Objectives</a:t>
            </a:r>
            <a:endParaRPr sz="3200" b="1">
              <a:solidFill>
                <a:srgbClr val="002060"/>
              </a:solidFill>
              <a:latin typeface="Cambria"/>
              <a:ea typeface="Cambria"/>
              <a:cs typeface="Cambria"/>
              <a:sym typeface="Cambria"/>
            </a:endParaRPr>
          </a:p>
        </p:txBody>
      </p:sp>
      <p:pic>
        <p:nvPicPr>
          <p:cNvPr id="179" name="Google Shape;179;g2a788f1400f_0_17" descr="logo.png">
            <a:extLst>
              <a:ext uri="{FF2B5EF4-FFF2-40B4-BE49-F238E27FC236}">
                <a16:creationId xmlns:a16="http://schemas.microsoft.com/office/drawing/2014/main" id="{1C35DF59-07BB-8FC1-5220-BBD1C534F64A}"/>
              </a:ext>
            </a:extLst>
          </p:cNvPr>
          <p:cNvPicPr preferRelativeResize="0"/>
          <p:nvPr/>
        </p:nvPicPr>
        <p:blipFill rotWithShape="1">
          <a:blip r:embed="rId3">
            <a:alphaModFix/>
          </a:blip>
          <a:srcRect/>
          <a:stretch/>
        </p:blipFill>
        <p:spPr>
          <a:xfrm>
            <a:off x="111969" y="-109511"/>
            <a:ext cx="976320" cy="931541"/>
          </a:xfrm>
          <a:prstGeom prst="rect">
            <a:avLst/>
          </a:prstGeom>
          <a:noFill/>
          <a:ln>
            <a:noFill/>
          </a:ln>
        </p:spPr>
      </p:pic>
      <p:pic>
        <p:nvPicPr>
          <p:cNvPr id="180" name="Google Shape;180;g2a788f1400f_0_17" descr="NBA LOGO.png">
            <a:extLst>
              <a:ext uri="{FF2B5EF4-FFF2-40B4-BE49-F238E27FC236}">
                <a16:creationId xmlns:a16="http://schemas.microsoft.com/office/drawing/2014/main" id="{0CED3387-994C-9B45-767B-AD75BFCEB974}"/>
              </a:ext>
            </a:extLst>
          </p:cNvPr>
          <p:cNvPicPr preferRelativeResize="0"/>
          <p:nvPr/>
        </p:nvPicPr>
        <p:blipFill rotWithShape="1">
          <a:blip r:embed="rId4">
            <a:alphaModFix/>
          </a:blip>
          <a:srcRect/>
          <a:stretch/>
        </p:blipFill>
        <p:spPr>
          <a:xfrm>
            <a:off x="6965939" y="-39710"/>
            <a:ext cx="885825" cy="873621"/>
          </a:xfrm>
          <a:prstGeom prst="rect">
            <a:avLst/>
          </a:prstGeom>
          <a:noFill/>
          <a:ln>
            <a:noFill/>
          </a:ln>
        </p:spPr>
      </p:pic>
      <p:sp>
        <p:nvSpPr>
          <p:cNvPr id="181" name="Google Shape;181;g2a788f1400f_0_17">
            <a:extLst>
              <a:ext uri="{FF2B5EF4-FFF2-40B4-BE49-F238E27FC236}">
                <a16:creationId xmlns:a16="http://schemas.microsoft.com/office/drawing/2014/main" id="{38DC7AF0-DCBC-799D-DD00-E8866D90587E}"/>
              </a:ext>
            </a:extLst>
          </p:cNvPr>
          <p:cNvSpPr txBox="1"/>
          <p:nvPr/>
        </p:nvSpPr>
        <p:spPr>
          <a:xfrm>
            <a:off x="467543" y="55924"/>
            <a:ext cx="6500700" cy="77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182" name="Google Shape;182;g2a788f1400f_0_17">
            <a:extLst>
              <a:ext uri="{FF2B5EF4-FFF2-40B4-BE49-F238E27FC236}">
                <a16:creationId xmlns:a16="http://schemas.microsoft.com/office/drawing/2014/main" id="{325FDFA3-DAB4-35A2-31AB-F024A1CA0CB4}"/>
              </a:ext>
            </a:extLst>
          </p:cNvPr>
          <p:cNvPicPr preferRelativeResize="0"/>
          <p:nvPr/>
        </p:nvPicPr>
        <p:blipFill rotWithShape="1">
          <a:blip r:embed="rId5">
            <a:alphaModFix/>
          </a:blip>
          <a:srcRect/>
          <a:stretch/>
        </p:blipFill>
        <p:spPr>
          <a:xfrm>
            <a:off x="8038965" y="-23747"/>
            <a:ext cx="793750" cy="841693"/>
          </a:xfrm>
          <a:prstGeom prst="rect">
            <a:avLst/>
          </a:prstGeom>
          <a:noFill/>
          <a:ln>
            <a:noFill/>
          </a:ln>
        </p:spPr>
      </p:pic>
      <p:sp>
        <p:nvSpPr>
          <p:cNvPr id="5" name="TextBox 4">
            <a:extLst>
              <a:ext uri="{FF2B5EF4-FFF2-40B4-BE49-F238E27FC236}">
                <a16:creationId xmlns:a16="http://schemas.microsoft.com/office/drawing/2014/main" id="{CDFD8D59-39A3-D5D5-8E95-8FA8F8159CCF}"/>
              </a:ext>
            </a:extLst>
          </p:cNvPr>
          <p:cNvSpPr txBox="1"/>
          <p:nvPr/>
        </p:nvSpPr>
        <p:spPr>
          <a:xfrm>
            <a:off x="289249" y="1489083"/>
            <a:ext cx="8752114" cy="4928209"/>
          </a:xfrm>
          <a:prstGeom prst="rect">
            <a:avLst/>
          </a:prstGeom>
          <a:noFill/>
        </p:spPr>
        <p:txBody>
          <a:bodyPr wrap="square">
            <a:spAutoFit/>
          </a:bodyPr>
          <a:lstStyle/>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 Develop an Advanced Privacy-Preserving Mechanism: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 a state-of-the-art privacy-preserving mechanism that employs cutting-edge cryptographic techniques to ensure the security and privacy of shared data in cloud environments.</a:t>
            </a:r>
          </a:p>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2. Efficient Public Auditing: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Streamline the public auditing process for shared cloud data, enhancing efficiency by enabling verifiers to assess data integrity without the need to retrieve the entire file.</a:t>
            </a:r>
          </a:p>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3. Scalable System Architecture: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Optimize the system architecture to ensure scalability, aligning hardware and software specifications to accommodate varying workloads and large datasets, thereby enhancing overall system performance.</a:t>
            </a:r>
          </a:p>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4. Scalable Operations: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Extend the mechanism to support dynamic data scenarios, including block-level operations such as modification, deletion, and insertion, ensuring the adaptability and robustness of the system in addressing evolving data challenges. </a:t>
            </a:r>
          </a:p>
          <a:p>
            <a:pPr marL="0" marR="0" algn="just">
              <a:lnSpc>
                <a:spcPct val="107000"/>
              </a:lnSpc>
              <a:spcBef>
                <a:spcPts val="0"/>
              </a:spcBef>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5. Enhance Security for Confidential Data Sharing: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Elevate the security measures for file sharing within the proposed mechanism, ensuring robust protection against unauthorized access and data breaches while preserving the privacy of shared information.</a:t>
            </a:r>
          </a:p>
        </p:txBody>
      </p:sp>
    </p:spTree>
    <p:extLst>
      <p:ext uri="{BB962C8B-B14F-4D97-AF65-F5344CB8AC3E}">
        <p14:creationId xmlns:p14="http://schemas.microsoft.com/office/powerpoint/2010/main" val="333197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7494-F9E8-8167-1798-6D3545E3BD74}"/>
              </a:ext>
            </a:extLst>
          </p:cNvPr>
          <p:cNvSpPr>
            <a:spLocks noGrp="1"/>
          </p:cNvSpPr>
          <p:nvPr>
            <p:ph type="title"/>
          </p:nvPr>
        </p:nvSpPr>
        <p:spPr>
          <a:xfrm>
            <a:off x="457200" y="274637"/>
            <a:ext cx="8229600" cy="1600815"/>
          </a:xfrm>
        </p:spPr>
        <p:txBody>
          <a:bodyPr/>
          <a:lstStyle/>
          <a:p>
            <a:br>
              <a:rPr lang="en-US" sz="4400" dirty="0">
                <a:latin typeface="Times New Roman"/>
                <a:cs typeface="Times New Roman"/>
              </a:rPr>
            </a:br>
            <a:endParaRPr lang="en-US" dirty="0"/>
          </a:p>
        </p:txBody>
      </p:sp>
      <p:sp>
        <p:nvSpPr>
          <p:cNvPr id="3" name="Text Placeholder 2">
            <a:extLst>
              <a:ext uri="{FF2B5EF4-FFF2-40B4-BE49-F238E27FC236}">
                <a16:creationId xmlns:a16="http://schemas.microsoft.com/office/drawing/2014/main" id="{E322D515-597E-28F9-4011-200B3043F18E}"/>
              </a:ext>
            </a:extLst>
          </p:cNvPr>
          <p:cNvSpPr>
            <a:spLocks noGrp="1"/>
          </p:cNvSpPr>
          <p:nvPr>
            <p:ph type="body" idx="1"/>
          </p:nvPr>
        </p:nvSpPr>
        <p:spPr>
          <a:xfrm>
            <a:off x="457200" y="1698171"/>
            <a:ext cx="8229600" cy="4885192"/>
          </a:xfrm>
        </p:spPr>
        <p:txBody>
          <a:bodyPr/>
          <a:lstStyle/>
          <a:p>
            <a:r>
              <a:rPr lang="en-IN" sz="1800" dirty="0">
                <a:solidFill>
                  <a:srgbClr val="231F20"/>
                </a:solidFill>
                <a:effectLst/>
                <a:latin typeface="Times New Roman" panose="02020603050405020304" pitchFamily="18" charset="0"/>
                <a:ea typeface="Times New Roman" panose="02020603050405020304" pitchFamily="18" charset="0"/>
              </a:rPr>
              <a:t>The propose system, a privacy-preserving public auditing mechanism for shared data in the cloud.</a:t>
            </a:r>
          </a:p>
          <a:p>
            <a:r>
              <a:rPr lang="en-IN" sz="1800" dirty="0">
                <a:solidFill>
                  <a:srgbClr val="231F20"/>
                </a:solidFill>
                <a:effectLst/>
                <a:latin typeface="Times New Roman" panose="02020603050405020304" pitchFamily="18" charset="0"/>
                <a:ea typeface="Times New Roman" panose="02020603050405020304" pitchFamily="18" charset="0"/>
              </a:rPr>
              <a:t>We utilize MD5 hashing algorith</a:t>
            </a:r>
            <a:r>
              <a:rPr lang="en-IN" sz="1800" dirty="0">
                <a:solidFill>
                  <a:srgbClr val="231F20"/>
                </a:solidFill>
                <a:latin typeface="Times New Roman" panose="02020603050405020304" pitchFamily="18" charset="0"/>
                <a:ea typeface="Times New Roman" panose="02020603050405020304" pitchFamily="18" charset="0"/>
              </a:rPr>
              <a:t>m</a:t>
            </a:r>
            <a:r>
              <a:rPr lang="en-IN" sz="1800" dirty="0">
                <a:solidFill>
                  <a:srgbClr val="231F20"/>
                </a:solidFill>
                <a:effectLst/>
                <a:latin typeface="Times New Roman" panose="02020603050405020304" pitchFamily="18" charset="0"/>
                <a:ea typeface="Times New Roman" panose="02020603050405020304" pitchFamily="18" charset="0"/>
              </a:rPr>
              <a:t>, so that a public verifier is able to audit shared data integrity without retrieving the entire data, yet it cannot distinguish who is the signer on each block. </a:t>
            </a:r>
          </a:p>
          <a:p>
            <a:r>
              <a:rPr lang="en-IN" sz="1800" dirty="0">
                <a:solidFill>
                  <a:srgbClr val="231F20"/>
                </a:solidFill>
                <a:latin typeface="Times New Roman" panose="02020603050405020304" pitchFamily="18" charset="0"/>
                <a:ea typeface="Calibri" panose="020F0502020204030204" pitchFamily="34" charset="0"/>
              </a:rPr>
              <a:t>Advanced Encryption Standard algorithm for encryption of data and </a:t>
            </a:r>
            <a:r>
              <a:rPr lang="en-US" sz="1800" dirty="0">
                <a:latin typeface="Times New Roman" panose="02020603050405020304" pitchFamily="18" charset="0"/>
                <a:cs typeface="Times New Roman" panose="02020603050405020304" pitchFamily="18" charset="0"/>
              </a:rPr>
              <a:t>uses CBC mode with PKCS5 padding and with key size of 16 bytes(128bits).</a:t>
            </a:r>
            <a:endParaRPr lang="en-US" sz="1800" dirty="0">
              <a:effectLst/>
              <a:latin typeface="Calibri" panose="020F0502020204030204" pitchFamily="34" charset="0"/>
              <a:ea typeface="Calibri" panose="020F0502020204030204" pitchFamily="34" charset="0"/>
            </a:endParaRPr>
          </a:p>
          <a:p>
            <a:r>
              <a:rPr lang="en-IN" sz="1800" dirty="0">
                <a:solidFill>
                  <a:srgbClr val="231F20"/>
                </a:solidFill>
                <a:effectLst/>
                <a:latin typeface="Times New Roman" panose="02020603050405020304" pitchFamily="18" charset="0"/>
                <a:ea typeface="Times New Roman" panose="02020603050405020304" pitchFamily="18" charset="0"/>
              </a:rPr>
              <a:t>SMTP </a:t>
            </a:r>
            <a:r>
              <a:rPr lang="en-IN" sz="1800" dirty="0">
                <a:solidFill>
                  <a:srgbClr val="231F20"/>
                </a:solidFill>
                <a:latin typeface="Times New Roman" panose="02020603050405020304" pitchFamily="18" charset="0"/>
                <a:ea typeface="Times New Roman" panose="02020603050405020304" pitchFamily="18" charset="0"/>
              </a:rPr>
              <a:t>s</a:t>
            </a:r>
            <a:r>
              <a:rPr lang="en-IN" sz="1800" dirty="0">
                <a:solidFill>
                  <a:srgbClr val="231F20"/>
                </a:solidFill>
                <a:effectLst/>
                <a:latin typeface="Times New Roman" panose="02020603050405020304" pitchFamily="18" charset="0"/>
                <a:ea typeface="Times New Roman" panose="02020603050405020304" pitchFamily="18" charset="0"/>
              </a:rPr>
              <a:t>tands for "Simple Mail Transfer Protocol." this can be the protocol used for secure communication between the data owners and the authorized users. </a:t>
            </a:r>
          </a:p>
          <a:p>
            <a:r>
              <a:rPr lang="en-IN" sz="1800" dirty="0">
                <a:solidFill>
                  <a:srgbClr val="231F20"/>
                </a:solidFill>
                <a:effectLst/>
                <a:latin typeface="Times New Roman" panose="02020603050405020304" pitchFamily="18" charset="0"/>
                <a:ea typeface="Times New Roman" panose="02020603050405020304" pitchFamily="18" charset="0"/>
              </a:rPr>
              <a:t>Your e-mail shopper uses SMTP to send a message to the mail server, and also the mail server uses SMTP to relay that message to the proper receiving mail server. </a:t>
            </a:r>
          </a:p>
          <a:p>
            <a:r>
              <a:rPr lang="en-US" sz="1800" dirty="0">
                <a:latin typeface="Times New Roman" panose="02020603050405020304" pitchFamily="18" charset="0"/>
                <a:cs typeface="Times New Roman" panose="02020603050405020304" pitchFamily="18" charset="0"/>
              </a:rPr>
              <a:t>SMTP protocol shares the secret key from the data owner to the user to decrypt the data. </a:t>
            </a:r>
          </a:p>
          <a:p>
            <a:r>
              <a:rPr lang="en-US" sz="1800" dirty="0">
                <a:latin typeface="Times New Roman" panose="02020603050405020304" pitchFamily="18" charset="0"/>
                <a:cs typeface="Times New Roman" panose="02020603050405020304" pitchFamily="18" charset="0"/>
              </a:rPr>
              <a:t>In order to create </a:t>
            </a:r>
            <a:r>
              <a:rPr lang="en-IN" sz="1800" dirty="0">
                <a:solidFill>
                  <a:srgbClr val="231F20"/>
                </a:solidFill>
                <a:effectLst/>
                <a:latin typeface="Times New Roman" panose="02020603050405020304" pitchFamily="18" charset="0"/>
                <a:ea typeface="Times New Roman" panose="02020603050405020304" pitchFamily="18" charset="0"/>
              </a:rPr>
              <a:t>privacy-preserving mechanism we use other cryptographic techniques like encryption and decryption to ensure the security and privacy </a:t>
            </a:r>
            <a:r>
              <a:rPr lang="en-IN" sz="1800" dirty="0">
                <a:solidFill>
                  <a:srgbClr val="231F20"/>
                </a:solidFill>
                <a:latin typeface="Times New Roman" panose="02020603050405020304" pitchFamily="18" charset="0"/>
                <a:ea typeface="Times New Roman" panose="02020603050405020304" pitchFamily="18" charset="0"/>
              </a:rPr>
              <a:t>of shared data</a:t>
            </a:r>
            <a:r>
              <a:rPr lang="en-IN" sz="1800" dirty="0">
                <a:solidFill>
                  <a:srgbClr val="231F20"/>
                </a:solidFill>
                <a:effectLst/>
                <a:latin typeface="Times New Roman" panose="02020603050405020304" pitchFamily="18" charset="0"/>
                <a:ea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91F6316-F046-B373-F01E-EF52F9FD2D9F}"/>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11</a:t>
            </a:fld>
            <a:endParaRPr/>
          </a:p>
        </p:txBody>
      </p:sp>
      <p:sp>
        <p:nvSpPr>
          <p:cNvPr id="5" name="Google Shape;187;p9">
            <a:extLst>
              <a:ext uri="{FF2B5EF4-FFF2-40B4-BE49-F238E27FC236}">
                <a16:creationId xmlns:a16="http://schemas.microsoft.com/office/drawing/2014/main" id="{B7301F16-0834-45A1-F7EE-B31DFFE91948}"/>
              </a:ext>
            </a:extLst>
          </p:cNvPr>
          <p:cNvSpPr txBox="1">
            <a:spLocks/>
          </p:cNvSpPr>
          <p:nvPr/>
        </p:nvSpPr>
        <p:spPr>
          <a:xfrm>
            <a:off x="0" y="871011"/>
            <a:ext cx="9144000" cy="576064"/>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Proposed Methodology</a:t>
            </a:r>
            <a:endParaRPr lang="en-US" sz="3200" b="1" dirty="0">
              <a:solidFill>
                <a:srgbClr val="002060"/>
              </a:solidFill>
              <a:latin typeface="Cambria"/>
              <a:ea typeface="Cambria"/>
              <a:cs typeface="Cambria"/>
              <a:sym typeface="Cambria"/>
            </a:endParaRPr>
          </a:p>
        </p:txBody>
      </p:sp>
      <p:pic>
        <p:nvPicPr>
          <p:cNvPr id="6" name="Google Shape;179;g2a788f1400f_0_17" descr="logo.png">
            <a:extLst>
              <a:ext uri="{FF2B5EF4-FFF2-40B4-BE49-F238E27FC236}">
                <a16:creationId xmlns:a16="http://schemas.microsoft.com/office/drawing/2014/main" id="{BDD6485A-F77F-2A8D-7577-8AA9CA1F32D0}"/>
              </a:ext>
            </a:extLst>
          </p:cNvPr>
          <p:cNvPicPr preferRelativeResize="0"/>
          <p:nvPr/>
        </p:nvPicPr>
        <p:blipFill rotWithShape="1">
          <a:blip r:embed="rId2">
            <a:alphaModFix/>
          </a:blip>
          <a:srcRect/>
          <a:stretch/>
        </p:blipFill>
        <p:spPr>
          <a:xfrm>
            <a:off x="111969" y="-44194"/>
            <a:ext cx="976320" cy="931541"/>
          </a:xfrm>
          <a:prstGeom prst="rect">
            <a:avLst/>
          </a:prstGeom>
          <a:noFill/>
          <a:ln>
            <a:noFill/>
          </a:ln>
        </p:spPr>
      </p:pic>
      <p:sp>
        <p:nvSpPr>
          <p:cNvPr id="8" name="Google Shape;181;g2a788f1400f_0_17">
            <a:extLst>
              <a:ext uri="{FF2B5EF4-FFF2-40B4-BE49-F238E27FC236}">
                <a16:creationId xmlns:a16="http://schemas.microsoft.com/office/drawing/2014/main" id="{39D0A765-2C3E-DFA9-4CCE-5C1C08E145EF}"/>
              </a:ext>
            </a:extLst>
          </p:cNvPr>
          <p:cNvSpPr txBox="1"/>
          <p:nvPr/>
        </p:nvSpPr>
        <p:spPr>
          <a:xfrm>
            <a:off x="467543" y="55924"/>
            <a:ext cx="6500700" cy="77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9" name="Google Shape;180;g2a788f1400f_0_17" descr="NBA LOGO.png">
            <a:extLst>
              <a:ext uri="{FF2B5EF4-FFF2-40B4-BE49-F238E27FC236}">
                <a16:creationId xmlns:a16="http://schemas.microsoft.com/office/drawing/2014/main" id="{F4A3EB05-34BA-1909-8ECC-B6875375CA38}"/>
              </a:ext>
            </a:extLst>
          </p:cNvPr>
          <p:cNvPicPr preferRelativeResize="0"/>
          <p:nvPr/>
        </p:nvPicPr>
        <p:blipFill rotWithShape="1">
          <a:blip r:embed="rId3">
            <a:alphaModFix/>
          </a:blip>
          <a:srcRect/>
          <a:stretch/>
        </p:blipFill>
        <p:spPr>
          <a:xfrm>
            <a:off x="6965939" y="-21048"/>
            <a:ext cx="885825" cy="873621"/>
          </a:xfrm>
          <a:prstGeom prst="rect">
            <a:avLst/>
          </a:prstGeom>
          <a:noFill/>
          <a:ln>
            <a:noFill/>
          </a:ln>
        </p:spPr>
      </p:pic>
      <p:pic>
        <p:nvPicPr>
          <p:cNvPr id="10" name="Google Shape;182;g2a788f1400f_0_17">
            <a:extLst>
              <a:ext uri="{FF2B5EF4-FFF2-40B4-BE49-F238E27FC236}">
                <a16:creationId xmlns:a16="http://schemas.microsoft.com/office/drawing/2014/main" id="{A484DEA4-4ED6-1F5B-C888-3EF6161234FD}"/>
              </a:ext>
            </a:extLst>
          </p:cNvPr>
          <p:cNvPicPr preferRelativeResize="0"/>
          <p:nvPr/>
        </p:nvPicPr>
        <p:blipFill rotWithShape="1">
          <a:blip r:embed="rId4">
            <a:alphaModFix/>
          </a:blip>
          <a:srcRect/>
          <a:stretch/>
        </p:blipFill>
        <p:spPr>
          <a:xfrm>
            <a:off x="8038965" y="-14416"/>
            <a:ext cx="793750" cy="841693"/>
          </a:xfrm>
          <a:prstGeom prst="rect">
            <a:avLst/>
          </a:prstGeom>
          <a:noFill/>
          <a:ln>
            <a:noFill/>
          </a:ln>
        </p:spPr>
      </p:pic>
    </p:spTree>
    <p:extLst>
      <p:ext uri="{BB962C8B-B14F-4D97-AF65-F5344CB8AC3E}">
        <p14:creationId xmlns:p14="http://schemas.microsoft.com/office/powerpoint/2010/main" val="2829647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B0703C-E948-AEDF-EF98-DA771BCE6E6D}"/>
              </a:ext>
            </a:extLst>
          </p:cNvPr>
          <p:cNvSpPr>
            <a:spLocks noGrp="1"/>
          </p:cNvSpPr>
          <p:nvPr>
            <p:ph type="body" idx="1"/>
          </p:nvPr>
        </p:nvSpPr>
        <p:spPr>
          <a:xfrm>
            <a:off x="457200" y="1343608"/>
            <a:ext cx="8229600" cy="5377865"/>
          </a:xfrm>
        </p:spPr>
        <p:txBody>
          <a:bodyPr/>
          <a:lstStyle/>
          <a:p>
            <a:pPr marL="342900">
              <a:lnSpc>
                <a:spcPct val="115000"/>
              </a:lnSpc>
              <a:spcBef>
                <a:spcPts val="0"/>
              </a:spcBef>
              <a:spcAft>
                <a:spcPts val="1000"/>
              </a:spcAft>
              <a:buAutoNum type="arabicPeriod"/>
            </a:pPr>
            <a:endParaRPr lang="en-IN" sz="1800" b="1" dirty="0">
              <a:effectLst/>
              <a:latin typeface="Times New Roman" panose="02020603050405020304" pitchFamily="18" charset="0"/>
              <a:ea typeface="Times New Roman" panose="02020603050405020304" pitchFamily="18" charset="0"/>
            </a:endParaRPr>
          </a:p>
          <a:p>
            <a:pPr marL="342900">
              <a:lnSpc>
                <a:spcPct val="115000"/>
              </a:lnSpc>
              <a:spcBef>
                <a:spcPts val="0"/>
              </a:spcBef>
              <a:spcAft>
                <a:spcPts val="1000"/>
              </a:spcAft>
              <a:buAutoNum type="arabicPeriod"/>
            </a:pPr>
            <a:r>
              <a:rPr lang="en-US" sz="1800" b="1" dirty="0">
                <a:latin typeface="Times New Roman" panose="02020603050405020304" pitchFamily="18" charset="0"/>
                <a:cs typeface="Times New Roman" panose="02020603050405020304" pitchFamily="18" charset="0"/>
              </a:rPr>
              <a:t>Admin:</a:t>
            </a:r>
            <a:r>
              <a:rPr lang="en-US" sz="1800" dirty="0">
                <a:latin typeface="Times New Roman" panose="02020603050405020304" pitchFamily="18" charset="0"/>
                <a:cs typeface="Times New Roman" panose="02020603050405020304" pitchFamily="18" charset="0"/>
              </a:rPr>
              <a:t> This domain must access the User Interface by providing their login credentials and the One-Time Password (OTP) generated from the database. Following the admin's login to the User Interface, they are responsible for registering all individuals involved in cloud data transfer operations, including users, data creators, and auditors.</a:t>
            </a:r>
            <a:endParaRPr lang="en-IN"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a:lnSpc>
                <a:spcPct val="115000"/>
              </a:lnSpc>
              <a:spcBef>
                <a:spcPts val="0"/>
              </a:spcBef>
              <a:spcAft>
                <a:spcPts val="1000"/>
              </a:spcAft>
              <a:buAutoNum type="arabicPeriod"/>
            </a:pPr>
            <a:r>
              <a:rPr lang="en-US" sz="1800" b="1" dirty="0">
                <a:latin typeface="Times New Roman" panose="02020603050405020304" pitchFamily="18" charset="0"/>
                <a:cs typeface="Times New Roman" panose="02020603050405020304" pitchFamily="18" charset="0"/>
              </a:rPr>
              <a:t>Data Owner:</a:t>
            </a:r>
            <a:r>
              <a:rPr lang="en-US" sz="1800" dirty="0">
                <a:latin typeface="Times New Roman" panose="02020603050405020304" pitchFamily="18" charset="0"/>
                <a:cs typeface="Times New Roman" panose="02020603050405020304" pitchFamily="18" charset="0"/>
              </a:rPr>
              <a:t> The administrator is responsible for enrolling all data owners in the cloud and granting them access by assigning a username, password, and product key. The SMTP protocol facilitates the transmission of these credentials to the data owner's registered email address. Upon receipt, the Data Owner must authenticate by logging in using the provided username and password, after which they can upload encrypted files. Encryption is performed using the AES algorithm, and the encrypted files are stored securely in the cloud, accessible solely to authorized users. The uploaded files can be in various formats, such as PDF, JPG, DOC, etc., and can be sourced from any location within the system, including desktops and drives.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35AFA68-0A4B-6535-5F2C-212453F62AF7}"/>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12</a:t>
            </a:fld>
            <a:endParaRPr/>
          </a:p>
        </p:txBody>
      </p:sp>
      <p:sp>
        <p:nvSpPr>
          <p:cNvPr id="5" name="Google Shape;187;p9">
            <a:extLst>
              <a:ext uri="{FF2B5EF4-FFF2-40B4-BE49-F238E27FC236}">
                <a16:creationId xmlns:a16="http://schemas.microsoft.com/office/drawing/2014/main" id="{D9BD804E-4020-2AF0-9A7B-16270AEF8B7B}"/>
              </a:ext>
            </a:extLst>
          </p:cNvPr>
          <p:cNvSpPr txBox="1">
            <a:spLocks/>
          </p:cNvSpPr>
          <p:nvPr/>
        </p:nvSpPr>
        <p:spPr>
          <a:xfrm>
            <a:off x="0" y="895743"/>
            <a:ext cx="9144000" cy="606486"/>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Modules</a:t>
            </a:r>
            <a:endParaRPr lang="en-US"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5D8F0155-179C-9B8A-107E-75F17D1D5F78}"/>
              </a:ext>
            </a:extLst>
          </p:cNvPr>
          <p:cNvPicPr preferRelativeResize="0"/>
          <p:nvPr/>
        </p:nvPicPr>
        <p:blipFill rotWithShape="1">
          <a:blip r:embed="rId2">
            <a:alphaModFix/>
          </a:blip>
          <a:srcRect/>
          <a:stretch/>
        </p:blipFill>
        <p:spPr>
          <a:xfrm>
            <a:off x="11196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2233D2DC-CE28-1D32-86A9-E0253A41DFC9}"/>
              </a:ext>
            </a:extLst>
          </p:cNvPr>
          <p:cNvSpPr txBox="1"/>
          <p:nvPr/>
        </p:nvSpPr>
        <p:spPr>
          <a:xfrm>
            <a:off x="467543" y="55924"/>
            <a:ext cx="6500700" cy="77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8" name="Google Shape;180;g2a788f1400f_0_17" descr="NBA LOGO.png">
            <a:extLst>
              <a:ext uri="{FF2B5EF4-FFF2-40B4-BE49-F238E27FC236}">
                <a16:creationId xmlns:a16="http://schemas.microsoft.com/office/drawing/2014/main" id="{5B7FFDDF-D339-B233-EE0D-F6B8D77D4830}"/>
              </a:ext>
            </a:extLst>
          </p:cNvPr>
          <p:cNvPicPr preferRelativeResize="0"/>
          <p:nvPr/>
        </p:nvPicPr>
        <p:blipFill rotWithShape="1">
          <a:blip r:embed="rId3">
            <a:alphaModFix/>
          </a:blip>
          <a:srcRect/>
          <a:stretch/>
        </p:blipFill>
        <p:spPr>
          <a:xfrm>
            <a:off x="6965939" y="-11717"/>
            <a:ext cx="885825" cy="873621"/>
          </a:xfrm>
          <a:prstGeom prst="rect">
            <a:avLst/>
          </a:prstGeom>
          <a:noFill/>
          <a:ln>
            <a:noFill/>
          </a:ln>
        </p:spPr>
      </p:pic>
      <p:pic>
        <p:nvPicPr>
          <p:cNvPr id="9" name="Google Shape;182;g2a788f1400f_0_17">
            <a:extLst>
              <a:ext uri="{FF2B5EF4-FFF2-40B4-BE49-F238E27FC236}">
                <a16:creationId xmlns:a16="http://schemas.microsoft.com/office/drawing/2014/main" id="{35D3941C-C5C1-7C83-33BE-A517BD2F3958}"/>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Tree>
    <p:extLst>
      <p:ext uri="{BB962C8B-B14F-4D97-AF65-F5344CB8AC3E}">
        <p14:creationId xmlns:p14="http://schemas.microsoft.com/office/powerpoint/2010/main" val="1345592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740AAC-39D8-5F1B-E793-E5BD910ACAB9}"/>
              </a:ext>
            </a:extLst>
          </p:cNvPr>
          <p:cNvSpPr>
            <a:spLocks noGrp="1"/>
          </p:cNvSpPr>
          <p:nvPr>
            <p:ph type="body" idx="1"/>
          </p:nvPr>
        </p:nvSpPr>
        <p:spPr>
          <a:xfrm>
            <a:off x="457200" y="1772815"/>
            <a:ext cx="8229600" cy="4353347"/>
          </a:xfrm>
        </p:spPr>
        <p:txBody>
          <a:bodyPr/>
          <a:lstStyle/>
          <a:p>
            <a:pPr marL="114300" indent="0">
              <a:buNone/>
            </a:pPr>
            <a:r>
              <a:rPr lang="en-US" sz="1800" b="1" dirty="0">
                <a:latin typeface="Times New Roman" panose="02020603050405020304" pitchFamily="18" charset="0"/>
                <a:cs typeface="Times New Roman" panose="02020603050405020304" pitchFamily="18" charset="0"/>
              </a:rPr>
              <a:t>3.  Auditor:</a:t>
            </a:r>
            <a:r>
              <a:rPr lang="en-US" sz="1800" dirty="0">
                <a:latin typeface="Times New Roman" panose="02020603050405020304" pitchFamily="18" charset="0"/>
                <a:cs typeface="Times New Roman" panose="02020603050405020304" pitchFamily="18" charset="0"/>
              </a:rPr>
              <a:t> All auditors who verify the accuracy of data submitted by data owners in the cloud must be registered by the administrator. Every auditor receives a login username and password from the administrator. The SMTP protocol sends these credentials to the auditor's registered email address. The auditor must use the username and password to log in after receiving it. The auditor uploads the identical file that the data owner submitted in order to confirm the integrity of the uploaded file. This approach uses hashing for verification. A distinct ID is given to each auditor who confirms the data to maintain security in the cloud environment.</a:t>
            </a:r>
          </a:p>
          <a:p>
            <a:pPr marL="114300" indent="0">
              <a:buNone/>
            </a:pPr>
            <a:endParaRPr lang="en-US" sz="1800" dirty="0">
              <a:latin typeface="Times New Roman" panose="02020603050405020304" pitchFamily="18" charset="0"/>
              <a:cs typeface="Times New Roman" panose="02020603050405020304" pitchFamily="18" charset="0"/>
            </a:endParaRPr>
          </a:p>
          <a:p>
            <a:pPr marL="114300" indent="0">
              <a:buNone/>
            </a:pPr>
            <a:r>
              <a:rPr lang="en-US" sz="1800" b="1" dirty="0">
                <a:latin typeface="Times New Roman" panose="02020603050405020304" pitchFamily="18" charset="0"/>
                <a:cs typeface="Times New Roman" panose="02020603050405020304" pitchFamily="18" charset="0"/>
              </a:rPr>
              <a:t>4.  User:</a:t>
            </a:r>
            <a:r>
              <a:rPr lang="en-US" sz="1800" dirty="0">
                <a:latin typeface="Times New Roman" panose="02020603050405020304" pitchFamily="18" charset="0"/>
                <a:cs typeface="Times New Roman" panose="02020603050405020304" pitchFamily="18" charset="0"/>
              </a:rPr>
              <a:t> The administrator is responsible for enrolling each cloud user who needs data access. The administrator assigns each user a username, password, and secret key. The SMTP protocol is then used to send these credentials to the user's registered email address. When the user receives the email, they must enter the secret key after logging in with their username and password to view the file the data owner uploaded.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569F521-BF99-BB47-5E65-B51B3DE86AE7}"/>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13</a:t>
            </a:fld>
            <a:endParaRPr/>
          </a:p>
        </p:txBody>
      </p:sp>
      <p:sp>
        <p:nvSpPr>
          <p:cNvPr id="2" name="Google Shape;187;p9">
            <a:extLst>
              <a:ext uri="{FF2B5EF4-FFF2-40B4-BE49-F238E27FC236}">
                <a16:creationId xmlns:a16="http://schemas.microsoft.com/office/drawing/2014/main" id="{3C30EA73-BC82-D712-0466-9E19E16EF81B}"/>
              </a:ext>
            </a:extLst>
          </p:cNvPr>
          <p:cNvSpPr txBox="1">
            <a:spLocks/>
          </p:cNvSpPr>
          <p:nvPr/>
        </p:nvSpPr>
        <p:spPr>
          <a:xfrm>
            <a:off x="3" y="914413"/>
            <a:ext cx="9144000" cy="576064"/>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Modules</a:t>
            </a:r>
            <a:endParaRPr lang="en-US" sz="3200" b="1" dirty="0">
              <a:solidFill>
                <a:srgbClr val="002060"/>
              </a:solidFill>
              <a:latin typeface="Cambria"/>
              <a:ea typeface="Cambria"/>
              <a:cs typeface="Cambria"/>
              <a:sym typeface="Cambria"/>
            </a:endParaRPr>
          </a:p>
        </p:txBody>
      </p:sp>
      <p:pic>
        <p:nvPicPr>
          <p:cNvPr id="5" name="Google Shape;179;g2a788f1400f_0_17" descr="logo.png">
            <a:extLst>
              <a:ext uri="{FF2B5EF4-FFF2-40B4-BE49-F238E27FC236}">
                <a16:creationId xmlns:a16="http://schemas.microsoft.com/office/drawing/2014/main" id="{0FDEB25D-E162-97E7-D712-87F623B37A14}"/>
              </a:ext>
            </a:extLst>
          </p:cNvPr>
          <p:cNvPicPr preferRelativeResize="0"/>
          <p:nvPr/>
        </p:nvPicPr>
        <p:blipFill rotWithShape="1">
          <a:blip r:embed="rId2">
            <a:alphaModFix/>
          </a:blip>
          <a:srcRect/>
          <a:stretch/>
        </p:blipFill>
        <p:spPr>
          <a:xfrm>
            <a:off x="11196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985C2917-E3D1-6B56-EE59-3EF32E06ED88}"/>
              </a:ext>
            </a:extLst>
          </p:cNvPr>
          <p:cNvSpPr txBox="1"/>
          <p:nvPr/>
        </p:nvSpPr>
        <p:spPr>
          <a:xfrm>
            <a:off x="467543" y="55924"/>
            <a:ext cx="6500700" cy="77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BAD5A144-499F-B94A-08E3-9F988035858F}"/>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32B54BE3-9D26-F79D-8959-CA22CCA77E4E}"/>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Tree>
    <p:extLst>
      <p:ext uri="{BB962C8B-B14F-4D97-AF65-F5344CB8AC3E}">
        <p14:creationId xmlns:p14="http://schemas.microsoft.com/office/powerpoint/2010/main" val="308971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1916B24-EA5F-1ABD-3942-DC1B565BDD5A}"/>
              </a:ext>
            </a:extLst>
          </p:cNvPr>
          <p:cNvSpPr>
            <a:spLocks noGrp="1"/>
          </p:cNvSpPr>
          <p:nvPr>
            <p:ph type="body" idx="1"/>
          </p:nvPr>
        </p:nvSpPr>
        <p:spPr>
          <a:xfrm>
            <a:off x="457200" y="1679510"/>
            <a:ext cx="8229600" cy="4676840"/>
          </a:xfrm>
        </p:spPr>
        <p:txBody>
          <a:bodyPr/>
          <a:lstStyle/>
          <a:p>
            <a:pPr marL="0" marR="0" algn="just">
              <a:lnSpc>
                <a:spcPct val="150000"/>
              </a:lnSpc>
              <a:spcBef>
                <a:spcPts val="0"/>
              </a:spcBef>
              <a:spcAft>
                <a:spcPts val="0"/>
              </a:spcAft>
            </a:pPr>
            <a:r>
              <a:rPr lang="en-IN" sz="1800" b="1" dirty="0">
                <a:effectLst/>
                <a:latin typeface="Times New Roman" panose="02020603050405020304" pitchFamily="18" charset="0"/>
                <a:ea typeface="Times New Roman" panose="02020603050405020304" pitchFamily="18" charset="0"/>
              </a:rPr>
              <a:t>Software Requirement:</a:t>
            </a:r>
            <a:r>
              <a:rPr lang="en-IN" sz="1800" b="1" dirty="0">
                <a:effectLst/>
                <a:latin typeface="Calibri" panose="020F0502020204030204" pitchFamily="34" charset="0"/>
                <a:ea typeface="Calibri" panose="020F0502020204030204" pitchFamily="34" charset="0"/>
              </a:rPr>
              <a:t> </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Language	:Java(JDK 1.7)</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Oper</a:t>
            </a:r>
            <a:r>
              <a:rPr lang="en-IN" sz="1800" dirty="0">
                <a:solidFill>
                  <a:srgbClr val="000000"/>
                </a:solidFill>
                <a:latin typeface="Times New Roman" panose="02020603050405020304" pitchFamily="18" charset="0"/>
                <a:ea typeface="Times New Roman" panose="02020603050405020304" pitchFamily="18" charset="0"/>
              </a:rPr>
              <a:t>ating System: </a:t>
            </a:r>
            <a:r>
              <a:rPr lang="en-IN" sz="1800" dirty="0">
                <a:solidFill>
                  <a:srgbClr val="000000"/>
                </a:solidFill>
                <a:effectLst/>
                <a:latin typeface="Times New Roman" panose="02020603050405020304" pitchFamily="18" charset="0"/>
                <a:ea typeface="Times New Roman" panose="02020603050405020304" pitchFamily="18" charset="0"/>
              </a:rPr>
              <a:t>Windows 7 32bit</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MySQL Server: </a:t>
            </a:r>
            <a:r>
              <a:rPr lang="en-IN" sz="1800" dirty="0" err="1">
                <a:solidFill>
                  <a:srgbClr val="000000"/>
                </a:solidFill>
                <a:effectLst/>
                <a:latin typeface="Times New Roman" panose="02020603050405020304" pitchFamily="18" charset="0"/>
                <a:ea typeface="Times New Roman" panose="02020603050405020304" pitchFamily="18" charset="0"/>
              </a:rPr>
              <a:t>SQLyog</a:t>
            </a:r>
            <a:endParaRPr lang="en-US" sz="1800" dirty="0">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NetBeans IDE :  8.0.2</a:t>
            </a:r>
          </a:p>
          <a:p>
            <a:pPr marL="0" marR="0" lvl="0" indent="0" algn="just">
              <a:lnSpc>
                <a:spcPct val="150000"/>
              </a:lnSpc>
              <a:spcBef>
                <a:spcPts val="0"/>
              </a:spcBef>
              <a:spcAft>
                <a:spcPts val="0"/>
              </a:spcAft>
              <a:buNone/>
            </a:pPr>
            <a:endParaRPr lang="en-US" sz="1800" dirty="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0"/>
              </a:spcAft>
            </a:pPr>
            <a:r>
              <a:rPr lang="en-IN" sz="1800" b="1" dirty="0">
                <a:effectLst/>
                <a:latin typeface="Times New Roman" panose="02020603050405020304" pitchFamily="18" charset="0"/>
                <a:ea typeface="Times New Roman" panose="02020603050405020304" pitchFamily="18" charset="0"/>
              </a:rPr>
              <a:t>Hardware Requirement	:</a:t>
            </a:r>
            <a:r>
              <a:rPr lang="en-IN" sz="1800" dirty="0">
                <a:effectLst/>
                <a:latin typeface="Calibri" panose="020F0502020204030204" pitchFamily="34" charset="0"/>
                <a:ea typeface="Calibri" panose="020F0502020204030204" pitchFamily="34" charset="0"/>
              </a:rPr>
              <a:t> </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RAM : 1 GB</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Hard Disk : 80 GB </a:t>
            </a:r>
            <a:endParaRPr lang="en-US" sz="1800" dirty="0">
              <a:effectLst/>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IN" sz="1800" dirty="0">
                <a:solidFill>
                  <a:srgbClr val="000000"/>
                </a:solidFill>
                <a:effectLst/>
                <a:latin typeface="Times New Roman" panose="02020603050405020304" pitchFamily="18" charset="0"/>
                <a:ea typeface="Times New Roman" panose="02020603050405020304" pitchFamily="18" charset="0"/>
              </a:rPr>
              <a:t>	Above 2GHz Processor</a:t>
            </a:r>
            <a:endParaRPr lang="en-US" sz="1800" dirty="0">
              <a:latin typeface="Calibri" panose="020F0502020204030204" pitchFamily="34" charset="0"/>
              <a:ea typeface="Calibri" panose="020F0502020204030204" pitchFamily="34" charset="0"/>
            </a:endParaRPr>
          </a:p>
          <a:p>
            <a:pPr marL="0" marR="0" lvl="0" indent="0" algn="just">
              <a:lnSpc>
                <a:spcPct val="150000"/>
              </a:lnSpc>
              <a:spcBef>
                <a:spcPts val="0"/>
              </a:spcBef>
              <a:spcAft>
                <a:spcPts val="0"/>
              </a:spcAft>
              <a:buNone/>
            </a:pPr>
            <a:r>
              <a:rPr lang="en-US" sz="18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Data Card</a:t>
            </a:r>
            <a:endParaRPr lang="en-US" sz="1800" dirty="0">
              <a:effectLst/>
              <a:latin typeface="Calibri" panose="020F0502020204030204" pitchFamily="34" charset="0"/>
              <a:ea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5414F933-7ADB-B827-1BD2-BC6D479866DE}"/>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14</a:t>
            </a:fld>
            <a:endParaRPr/>
          </a:p>
        </p:txBody>
      </p:sp>
      <p:sp>
        <p:nvSpPr>
          <p:cNvPr id="5" name="Google Shape;187;p9">
            <a:extLst>
              <a:ext uri="{FF2B5EF4-FFF2-40B4-BE49-F238E27FC236}">
                <a16:creationId xmlns:a16="http://schemas.microsoft.com/office/drawing/2014/main" id="{80371065-C535-5CC6-12DE-A9C4578C8D26}"/>
              </a:ext>
            </a:extLst>
          </p:cNvPr>
          <p:cNvSpPr txBox="1">
            <a:spLocks noGrp="1"/>
          </p:cNvSpPr>
          <p:nvPr>
            <p:ph type="title"/>
          </p:nvPr>
        </p:nvSpPr>
        <p:spPr>
          <a:xfrm>
            <a:off x="0" y="993089"/>
            <a:ext cx="9144000" cy="53713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Times New Roman"/>
                <a:ea typeface="Cambria"/>
                <a:cs typeface="Times New Roman"/>
                <a:sym typeface="Times New Roman"/>
              </a:rPr>
              <a:t>System Requirements </a:t>
            </a:r>
            <a:endParaRPr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E3561A1F-71CC-C8EA-F34E-2787237AA739}"/>
              </a:ext>
            </a:extLst>
          </p:cNvPr>
          <p:cNvPicPr preferRelativeResize="0"/>
          <p:nvPr/>
        </p:nvPicPr>
        <p:blipFill rotWithShape="1">
          <a:blip r:embed="rId2">
            <a:alphaModFix/>
          </a:blip>
          <a:srcRect/>
          <a:stretch/>
        </p:blipFill>
        <p:spPr>
          <a:xfrm>
            <a:off x="48518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BE17D0B0-EA6C-982A-AD67-475991DB85A1}"/>
              </a:ext>
            </a:extLst>
          </p:cNvPr>
          <p:cNvSpPr txBox="1"/>
          <p:nvPr/>
        </p:nvSpPr>
        <p:spPr>
          <a:xfrm>
            <a:off x="559836" y="55924"/>
            <a:ext cx="6212461"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126D76DE-7447-1164-E925-14E0C9135592}"/>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739E9E55-97D0-589E-C087-F07277464A63}"/>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Tree>
    <p:extLst>
      <p:ext uri="{BB962C8B-B14F-4D97-AF65-F5344CB8AC3E}">
        <p14:creationId xmlns:p14="http://schemas.microsoft.com/office/powerpoint/2010/main" val="1236510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557C3-B039-5D1E-03A6-4A579AF64A55}"/>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15</a:t>
            </a:fld>
            <a:endParaRPr/>
          </a:p>
        </p:txBody>
      </p:sp>
      <p:sp>
        <p:nvSpPr>
          <p:cNvPr id="5" name="Google Shape;187;p9">
            <a:extLst>
              <a:ext uri="{FF2B5EF4-FFF2-40B4-BE49-F238E27FC236}">
                <a16:creationId xmlns:a16="http://schemas.microsoft.com/office/drawing/2014/main" id="{EB642622-E6B4-B018-DCB7-4BE2CA23D123}"/>
              </a:ext>
            </a:extLst>
          </p:cNvPr>
          <p:cNvSpPr txBox="1">
            <a:spLocks noGrp="1"/>
          </p:cNvSpPr>
          <p:nvPr>
            <p:ph type="title"/>
          </p:nvPr>
        </p:nvSpPr>
        <p:spPr>
          <a:xfrm>
            <a:off x="0" y="974432"/>
            <a:ext cx="9144000" cy="582547"/>
          </a:xfrm>
          <a:prstGeom prst="rect">
            <a:avLst/>
          </a:prstGeom>
          <a:solidFill>
            <a:srgbClr val="B2A0C7"/>
          </a:soli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sz="3200" b="1" dirty="0">
                <a:solidFill>
                  <a:srgbClr val="002060"/>
                </a:solidFill>
                <a:latin typeface="Times New Roman"/>
                <a:ea typeface="Cambria"/>
                <a:cs typeface="Times New Roman"/>
                <a:sym typeface="Times New Roman"/>
              </a:rPr>
              <a:t>System Architecture </a:t>
            </a:r>
            <a:endParaRPr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D2939EEA-DFB2-0352-ED07-CB4971B1D8DC}"/>
              </a:ext>
            </a:extLst>
          </p:cNvPr>
          <p:cNvPicPr preferRelativeResize="0"/>
          <p:nvPr/>
        </p:nvPicPr>
        <p:blipFill rotWithShape="1">
          <a:blip r:embed="rId2">
            <a:alphaModFix/>
          </a:blip>
          <a:srcRect/>
          <a:stretch/>
        </p:blipFill>
        <p:spPr>
          <a:xfrm>
            <a:off x="485189" y="-44194"/>
            <a:ext cx="976320" cy="931541"/>
          </a:xfrm>
          <a:prstGeom prst="rect">
            <a:avLst/>
          </a:prstGeom>
          <a:noFill/>
          <a:ln>
            <a:noFill/>
          </a:ln>
        </p:spPr>
      </p:pic>
      <p:sp>
        <p:nvSpPr>
          <p:cNvPr id="3" name="Google Shape;181;g2a788f1400f_0_17">
            <a:extLst>
              <a:ext uri="{FF2B5EF4-FFF2-40B4-BE49-F238E27FC236}">
                <a16:creationId xmlns:a16="http://schemas.microsoft.com/office/drawing/2014/main" id="{A1786E9C-75EB-D19D-9C1B-94146976E39A}"/>
              </a:ext>
            </a:extLst>
          </p:cNvPr>
          <p:cNvSpPr txBox="1"/>
          <p:nvPr/>
        </p:nvSpPr>
        <p:spPr>
          <a:xfrm>
            <a:off x="559836" y="55924"/>
            <a:ext cx="6212461"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F2EF20AE-1B84-04ED-AEC9-8B3F91DAFEA4}"/>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7FA28736-210D-8E38-019F-62E30B82F971}"/>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pic>
        <p:nvPicPr>
          <p:cNvPr id="9" name="Picture 8">
            <a:extLst>
              <a:ext uri="{FF2B5EF4-FFF2-40B4-BE49-F238E27FC236}">
                <a16:creationId xmlns:a16="http://schemas.microsoft.com/office/drawing/2014/main" id="{42A4BD59-E23E-B680-D729-4D1E00A3EE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41564" y="2084022"/>
            <a:ext cx="5420225" cy="3586584"/>
          </a:xfrm>
          <a:prstGeom prst="rect">
            <a:avLst/>
          </a:prstGeom>
        </p:spPr>
      </p:pic>
    </p:spTree>
    <p:extLst>
      <p:ext uri="{BB962C8B-B14F-4D97-AF65-F5344CB8AC3E}">
        <p14:creationId xmlns:p14="http://schemas.microsoft.com/office/powerpoint/2010/main" val="3141100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A23339-9ADB-014F-1D76-9FAA2F651F46}"/>
              </a:ext>
            </a:extLst>
          </p:cNvPr>
          <p:cNvSpPr>
            <a:spLocks noGrp="1"/>
          </p:cNvSpPr>
          <p:nvPr>
            <p:ph type="body" idx="1"/>
          </p:nvPr>
        </p:nvSpPr>
        <p:spPr>
          <a:xfrm>
            <a:off x="457200" y="951722"/>
            <a:ext cx="8229600" cy="951723"/>
          </a:xfrm>
        </p:spPr>
        <p:txBody>
          <a:bodyPr/>
          <a:lstStyle/>
          <a:p>
            <a:pPr marL="114300" indent="0" algn="just">
              <a:buNone/>
            </a:pPr>
            <a:r>
              <a:rPr lang="en-US" sz="1800" b="0" dirty="0">
                <a:latin typeface="Times New Roman" panose="02020603050405020304" pitchFamily="18" charset="0"/>
                <a:cs typeface="Times New Roman" panose="02020603050405020304" pitchFamily="18" charset="0"/>
              </a:rPr>
              <a:t>A </a:t>
            </a:r>
            <a:r>
              <a:rPr lang="en-US" sz="1800" dirty="0">
                <a:solidFill>
                  <a:schemeClr val="tx1"/>
                </a:solidFill>
                <a:latin typeface="Times New Roman" panose="02020603050405020304" pitchFamily="18" charset="0"/>
                <a:cs typeface="Times New Roman" panose="02020603050405020304" pitchFamily="18" charset="0"/>
              </a:rPr>
              <a:t>use case diagram </a:t>
            </a:r>
            <a:r>
              <a:rPr lang="en-US" sz="1800" b="0" dirty="0">
                <a:latin typeface="Times New Roman" panose="02020603050405020304" pitchFamily="18" charset="0"/>
                <a:cs typeface="Times New Roman" panose="02020603050405020304" pitchFamily="18" charset="0"/>
              </a:rPr>
              <a:t>at its simplest is a representation of a user's interaction with the system that shows the relationship between the user and the different </a:t>
            </a:r>
            <a:r>
              <a:rPr lang="en-US" sz="1800" b="0" dirty="0">
                <a:solidFill>
                  <a:srgbClr val="52565A"/>
                </a:solidFill>
                <a:latin typeface="Times New Roman" panose="02020603050405020304" pitchFamily="18" charset="0"/>
                <a:cs typeface="Times New Roman" panose="02020603050405020304" pitchFamily="18" charset="0"/>
              </a:rPr>
              <a:t>use cases </a:t>
            </a:r>
            <a:r>
              <a:rPr lang="en-US" sz="1800" b="0" dirty="0">
                <a:latin typeface="Times New Roman" panose="02020603050405020304" pitchFamily="18" charset="0"/>
                <a:cs typeface="Times New Roman" panose="02020603050405020304" pitchFamily="18" charset="0"/>
              </a:rPr>
              <a:t>in which the user is involved.</a:t>
            </a:r>
            <a:endParaRPr lang="en-US" sz="1800" dirty="0"/>
          </a:p>
        </p:txBody>
      </p:sp>
      <p:sp>
        <p:nvSpPr>
          <p:cNvPr id="4" name="Slide Number Placeholder 3">
            <a:extLst>
              <a:ext uri="{FF2B5EF4-FFF2-40B4-BE49-F238E27FC236}">
                <a16:creationId xmlns:a16="http://schemas.microsoft.com/office/drawing/2014/main" id="{36CE8CC5-8FC6-C0D5-1EB6-3DED65E93502}"/>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16</a:t>
            </a:fld>
            <a:endParaRPr/>
          </a:p>
        </p:txBody>
      </p:sp>
      <p:sp>
        <p:nvSpPr>
          <p:cNvPr id="5" name="Google Shape;187;p9">
            <a:extLst>
              <a:ext uri="{FF2B5EF4-FFF2-40B4-BE49-F238E27FC236}">
                <a16:creationId xmlns:a16="http://schemas.microsoft.com/office/drawing/2014/main" id="{AA5E4DBE-8CC9-A5F2-0FE6-1DEA5905D56E}"/>
              </a:ext>
            </a:extLst>
          </p:cNvPr>
          <p:cNvSpPr txBox="1">
            <a:spLocks noGrp="1"/>
          </p:cNvSpPr>
          <p:nvPr>
            <p:ph type="title"/>
          </p:nvPr>
        </p:nvSpPr>
        <p:spPr>
          <a:xfrm>
            <a:off x="0" y="274638"/>
            <a:ext cx="9144000" cy="537125"/>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Times New Roman"/>
                <a:ea typeface="Cambria"/>
                <a:cs typeface="Times New Roman"/>
                <a:sym typeface="Times New Roman"/>
              </a:rPr>
              <a:t>Use case Diagram </a:t>
            </a:r>
            <a:endParaRPr sz="3200" b="1" dirty="0">
              <a:solidFill>
                <a:srgbClr val="002060"/>
              </a:solidFill>
              <a:latin typeface="Cambria"/>
              <a:ea typeface="Cambria"/>
              <a:cs typeface="Cambria"/>
              <a:sym typeface="Cambria"/>
            </a:endParaRPr>
          </a:p>
        </p:txBody>
      </p:sp>
      <p:pic>
        <p:nvPicPr>
          <p:cNvPr id="7" name="Picture 6">
            <a:extLst>
              <a:ext uri="{FF2B5EF4-FFF2-40B4-BE49-F238E27FC236}">
                <a16:creationId xmlns:a16="http://schemas.microsoft.com/office/drawing/2014/main" id="{07BFDDC9-A57D-3270-4C0E-4F511E959162}"/>
              </a:ext>
            </a:extLst>
          </p:cNvPr>
          <p:cNvPicPr>
            <a:picLocks noChangeAspect="1"/>
          </p:cNvPicPr>
          <p:nvPr/>
        </p:nvPicPr>
        <p:blipFill>
          <a:blip r:embed="rId2"/>
          <a:stretch>
            <a:fillRect/>
          </a:stretch>
        </p:blipFill>
        <p:spPr>
          <a:xfrm>
            <a:off x="704515" y="2108718"/>
            <a:ext cx="7734970" cy="4474644"/>
          </a:xfrm>
          <a:prstGeom prst="rect">
            <a:avLst/>
          </a:prstGeom>
        </p:spPr>
      </p:pic>
    </p:spTree>
    <p:extLst>
      <p:ext uri="{BB962C8B-B14F-4D97-AF65-F5344CB8AC3E}">
        <p14:creationId xmlns:p14="http://schemas.microsoft.com/office/powerpoint/2010/main" val="1712200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6BE72B-E65A-A79B-8A99-C09B4ADD93D8}"/>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17</a:t>
            </a:fld>
            <a:endParaRPr/>
          </a:p>
        </p:txBody>
      </p:sp>
      <p:sp>
        <p:nvSpPr>
          <p:cNvPr id="5" name="Google Shape;187;p9">
            <a:extLst>
              <a:ext uri="{FF2B5EF4-FFF2-40B4-BE49-F238E27FC236}">
                <a16:creationId xmlns:a16="http://schemas.microsoft.com/office/drawing/2014/main" id="{E8C3840C-FED1-8A74-D68A-4F5F030B382E}"/>
              </a:ext>
            </a:extLst>
          </p:cNvPr>
          <p:cNvSpPr txBox="1">
            <a:spLocks noGrp="1"/>
          </p:cNvSpPr>
          <p:nvPr>
            <p:ph type="title"/>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Times New Roman"/>
                <a:ea typeface="Cambria"/>
                <a:cs typeface="Times New Roman"/>
                <a:sym typeface="Times New Roman"/>
              </a:rPr>
              <a:t>Class Diagram</a:t>
            </a:r>
            <a:endParaRPr sz="3200" b="1" dirty="0">
              <a:solidFill>
                <a:srgbClr val="002060"/>
              </a:solidFill>
              <a:latin typeface="Cambria"/>
              <a:ea typeface="Cambria"/>
              <a:cs typeface="Cambria"/>
              <a:sym typeface="Cambria"/>
            </a:endParaRPr>
          </a:p>
        </p:txBody>
      </p:sp>
      <p:pic>
        <p:nvPicPr>
          <p:cNvPr id="7" name="Picture 6">
            <a:extLst>
              <a:ext uri="{FF2B5EF4-FFF2-40B4-BE49-F238E27FC236}">
                <a16:creationId xmlns:a16="http://schemas.microsoft.com/office/drawing/2014/main" id="{DF706526-0BE0-BDE4-6DFA-94437DE1E688}"/>
              </a:ext>
            </a:extLst>
          </p:cNvPr>
          <p:cNvPicPr>
            <a:picLocks noChangeAspect="1"/>
          </p:cNvPicPr>
          <p:nvPr/>
        </p:nvPicPr>
        <p:blipFill>
          <a:blip r:embed="rId2"/>
          <a:stretch>
            <a:fillRect/>
          </a:stretch>
        </p:blipFill>
        <p:spPr>
          <a:xfrm>
            <a:off x="989045" y="2329330"/>
            <a:ext cx="7109926" cy="4076747"/>
          </a:xfrm>
          <a:prstGeom prst="rect">
            <a:avLst/>
          </a:prstGeom>
        </p:spPr>
      </p:pic>
      <p:sp>
        <p:nvSpPr>
          <p:cNvPr id="8" name="TextBox 7">
            <a:extLst>
              <a:ext uri="{FF2B5EF4-FFF2-40B4-BE49-F238E27FC236}">
                <a16:creationId xmlns:a16="http://schemas.microsoft.com/office/drawing/2014/main" id="{1C498BD1-9D61-7A04-289D-177B71934943}"/>
              </a:ext>
            </a:extLst>
          </p:cNvPr>
          <p:cNvSpPr txBox="1"/>
          <p:nvPr/>
        </p:nvSpPr>
        <p:spPr>
          <a:xfrm>
            <a:off x="587829" y="989045"/>
            <a:ext cx="8173616" cy="923330"/>
          </a:xfrm>
          <a:prstGeom prst="rect">
            <a:avLst/>
          </a:prstGeom>
          <a:noFill/>
        </p:spPr>
        <p:txBody>
          <a:bodyPr wrap="square" rtlCol="0">
            <a:spAutoFit/>
          </a:bodyPr>
          <a:lstStyle/>
          <a:p>
            <a:pPr algn="just"/>
            <a:r>
              <a:rPr lang="en-US" sz="1800" b="0" dirty="0">
                <a:solidFill>
                  <a:schemeClr val="tx1"/>
                </a:solidFill>
                <a:latin typeface="Times New Roman" panose="02020603050405020304" pitchFamily="18" charset="0"/>
                <a:cs typeface="Times New Roman" panose="02020603050405020304" pitchFamily="18" charset="0"/>
              </a:rPr>
              <a:t>The class diagram in the Unified Modelling Language (UML) is a type of static structure diagram that describes the structure of a system by showing the system's classes, their attributes, operations (or methods), and the relationships among objects.</a:t>
            </a:r>
            <a:endParaRPr lang="en-US" sz="1800" dirty="0">
              <a:solidFill>
                <a:schemeClr val="tx1"/>
              </a:solidFill>
            </a:endParaRPr>
          </a:p>
        </p:txBody>
      </p:sp>
    </p:spTree>
    <p:extLst>
      <p:ext uri="{BB962C8B-B14F-4D97-AF65-F5344CB8AC3E}">
        <p14:creationId xmlns:p14="http://schemas.microsoft.com/office/powerpoint/2010/main" val="537634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B8CE49-1491-FEB2-94A6-BDFA0CD364DB}"/>
              </a:ext>
            </a:extLst>
          </p:cNvPr>
          <p:cNvSpPr>
            <a:spLocks noGrp="1"/>
          </p:cNvSpPr>
          <p:nvPr>
            <p:ph type="body" idx="1"/>
          </p:nvPr>
        </p:nvSpPr>
        <p:spPr>
          <a:xfrm>
            <a:off x="457200" y="914401"/>
            <a:ext cx="8229600" cy="1073020"/>
          </a:xfrm>
        </p:spPr>
        <p:txBody>
          <a:bodyPr/>
          <a:lstStyle/>
          <a:p>
            <a:pPr marL="114300" indent="0" algn="just">
              <a:buNone/>
            </a:pPr>
            <a:r>
              <a:rPr lang="en-US" sz="1800" b="0" dirty="0">
                <a:latin typeface="Times New Roman" panose="02020603050405020304" pitchFamily="18" charset="0"/>
                <a:cs typeface="Times New Roman" panose="02020603050405020304" pitchFamily="18" charset="0"/>
              </a:rPr>
              <a:t>A </a:t>
            </a:r>
            <a:r>
              <a:rPr lang="en-US" sz="1800" dirty="0">
                <a:solidFill>
                  <a:schemeClr val="tx1"/>
                </a:solidFill>
                <a:latin typeface="Times New Roman" panose="02020603050405020304" pitchFamily="18" charset="0"/>
                <a:cs typeface="Times New Roman" panose="02020603050405020304" pitchFamily="18" charset="0"/>
              </a:rPr>
              <a:t>sequence</a:t>
            </a:r>
            <a:r>
              <a:rPr lang="en-US" sz="1800" b="0" dirty="0">
                <a:solidFill>
                  <a:srgbClr val="52565A"/>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diagram</a:t>
            </a:r>
            <a:r>
              <a:rPr lang="en-US" sz="1800" b="0" dirty="0">
                <a:solidFill>
                  <a:srgbClr val="52565A"/>
                </a:solidFill>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shows object interactions arranged in time </a:t>
            </a:r>
            <a:r>
              <a:rPr lang="en-US" sz="1800" b="0" dirty="0">
                <a:solidFill>
                  <a:srgbClr val="52565A"/>
                </a:solidFill>
                <a:latin typeface="Times New Roman" panose="02020603050405020304" pitchFamily="18" charset="0"/>
                <a:cs typeface="Times New Roman" panose="02020603050405020304" pitchFamily="18" charset="0"/>
              </a:rPr>
              <a:t>sequence</a:t>
            </a:r>
            <a:r>
              <a:rPr lang="en-US" sz="1800" b="0" dirty="0">
                <a:latin typeface="Times New Roman" panose="02020603050405020304" pitchFamily="18" charset="0"/>
                <a:cs typeface="Times New Roman" panose="02020603050405020304" pitchFamily="18" charset="0"/>
              </a:rPr>
              <a:t>. It depicts the objects and classes involved in the scenario and the </a:t>
            </a:r>
            <a:r>
              <a:rPr lang="en-US" sz="1800" b="0" dirty="0">
                <a:solidFill>
                  <a:srgbClr val="52565A"/>
                </a:solidFill>
                <a:latin typeface="Times New Roman" panose="02020603050405020304" pitchFamily="18" charset="0"/>
                <a:cs typeface="Times New Roman" panose="02020603050405020304" pitchFamily="18" charset="0"/>
              </a:rPr>
              <a:t>sequence </a:t>
            </a:r>
            <a:r>
              <a:rPr lang="en-US" sz="1800" b="0" dirty="0">
                <a:latin typeface="Times New Roman" panose="02020603050405020304" pitchFamily="18" charset="0"/>
                <a:cs typeface="Times New Roman" panose="02020603050405020304" pitchFamily="18" charset="0"/>
              </a:rPr>
              <a:t>of messages exchanged between the objects needed to carry out the functionality of the scenario. </a:t>
            </a:r>
            <a:endParaRPr lang="en-US" sz="1800" b="0" dirty="0">
              <a:solidFill>
                <a:srgbClr val="000000"/>
              </a:solidFill>
              <a:latin typeface="Times New Roman" panose="02020603050405020304" pitchFamily="18" charset="0"/>
              <a:ea typeface="Times Roman"/>
              <a:cs typeface="Times New Roman" panose="02020603050405020304" pitchFamily="18" charset="0"/>
              <a:sym typeface="Times Roman"/>
            </a:endParaRPr>
          </a:p>
          <a:p>
            <a:pPr algn="just"/>
            <a:endParaRPr lang="en-US" dirty="0"/>
          </a:p>
        </p:txBody>
      </p:sp>
      <p:sp>
        <p:nvSpPr>
          <p:cNvPr id="4" name="Slide Number Placeholder 3">
            <a:extLst>
              <a:ext uri="{FF2B5EF4-FFF2-40B4-BE49-F238E27FC236}">
                <a16:creationId xmlns:a16="http://schemas.microsoft.com/office/drawing/2014/main" id="{53E732DB-7B30-85C4-9076-A9B2EFD55C29}"/>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18</a:t>
            </a:fld>
            <a:endParaRPr/>
          </a:p>
        </p:txBody>
      </p:sp>
      <p:sp>
        <p:nvSpPr>
          <p:cNvPr id="7" name="Google Shape;187;p9">
            <a:extLst>
              <a:ext uri="{FF2B5EF4-FFF2-40B4-BE49-F238E27FC236}">
                <a16:creationId xmlns:a16="http://schemas.microsoft.com/office/drawing/2014/main" id="{4E6756A3-15A6-3885-DE9E-ABC3F4B0D5EF}"/>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Sequence Diagram</a:t>
            </a:r>
            <a:endParaRPr lang="en-US" sz="3200" b="1" dirty="0">
              <a:solidFill>
                <a:srgbClr val="002060"/>
              </a:solidFill>
              <a:latin typeface="Cambria"/>
              <a:ea typeface="Cambria"/>
              <a:cs typeface="Cambria"/>
              <a:sym typeface="Cambria"/>
            </a:endParaRPr>
          </a:p>
        </p:txBody>
      </p:sp>
      <p:pic>
        <p:nvPicPr>
          <p:cNvPr id="5" name="Picture 4">
            <a:extLst>
              <a:ext uri="{FF2B5EF4-FFF2-40B4-BE49-F238E27FC236}">
                <a16:creationId xmlns:a16="http://schemas.microsoft.com/office/drawing/2014/main" id="{FD7429FB-3BA1-6FC7-9AA2-81B0FAA74814}"/>
              </a:ext>
            </a:extLst>
          </p:cNvPr>
          <p:cNvPicPr>
            <a:picLocks noChangeAspect="1"/>
          </p:cNvPicPr>
          <p:nvPr/>
        </p:nvPicPr>
        <p:blipFill>
          <a:blip r:embed="rId2"/>
          <a:stretch>
            <a:fillRect/>
          </a:stretch>
        </p:blipFill>
        <p:spPr>
          <a:xfrm>
            <a:off x="2136709" y="2164702"/>
            <a:ext cx="5621097" cy="4418660"/>
          </a:xfrm>
          <a:prstGeom prst="rect">
            <a:avLst/>
          </a:prstGeom>
        </p:spPr>
      </p:pic>
    </p:spTree>
    <p:extLst>
      <p:ext uri="{BB962C8B-B14F-4D97-AF65-F5344CB8AC3E}">
        <p14:creationId xmlns:p14="http://schemas.microsoft.com/office/powerpoint/2010/main" val="3798642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DA5A2E-1E48-19A3-994E-E10F733FC4FC}"/>
              </a:ext>
            </a:extLst>
          </p:cNvPr>
          <p:cNvSpPr>
            <a:spLocks noGrp="1"/>
          </p:cNvSpPr>
          <p:nvPr>
            <p:ph type="body" idx="1"/>
          </p:nvPr>
        </p:nvSpPr>
        <p:spPr>
          <a:xfrm>
            <a:off x="457200" y="923731"/>
            <a:ext cx="8229600" cy="981714"/>
          </a:xfrm>
        </p:spPr>
        <p:txBody>
          <a:bodyPr/>
          <a:lstStyle/>
          <a:p>
            <a:pPr marL="114300" indent="0" algn="just">
              <a:buNone/>
            </a:pPr>
            <a:r>
              <a:rPr lang="en-US" sz="1800" b="0" i="0" dirty="0">
                <a:solidFill>
                  <a:schemeClr val="tx1"/>
                </a:solidFill>
                <a:effectLst/>
                <a:latin typeface="Times New Roman" panose="02020603050405020304" pitchFamily="18" charset="0"/>
                <a:cs typeface="Times New Roman" panose="02020603050405020304" pitchFamily="18" charset="0"/>
              </a:rPr>
              <a:t>In UML, an activity diagram is used to display the sequence of activities. Activity diagrams show the workflow from a start point to the finish point detailing the many decision paths that exist in the progression of events contained in the activity.</a:t>
            </a:r>
          </a:p>
          <a:p>
            <a:pPr algn="just"/>
            <a:endParaRPr lang="en-US" dirty="0">
              <a:solidFill>
                <a:schemeClr val="tx1"/>
              </a:solidFill>
            </a:endParaRPr>
          </a:p>
        </p:txBody>
      </p:sp>
      <p:sp>
        <p:nvSpPr>
          <p:cNvPr id="4" name="Slide Number Placeholder 3">
            <a:extLst>
              <a:ext uri="{FF2B5EF4-FFF2-40B4-BE49-F238E27FC236}">
                <a16:creationId xmlns:a16="http://schemas.microsoft.com/office/drawing/2014/main" id="{C15BA61F-AF48-73E9-8910-BF3073955CE4}"/>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19</a:t>
            </a:fld>
            <a:endParaRPr/>
          </a:p>
        </p:txBody>
      </p:sp>
      <p:sp>
        <p:nvSpPr>
          <p:cNvPr id="5" name="Google Shape;187;p9">
            <a:extLst>
              <a:ext uri="{FF2B5EF4-FFF2-40B4-BE49-F238E27FC236}">
                <a16:creationId xmlns:a16="http://schemas.microsoft.com/office/drawing/2014/main" id="{D239762A-D255-80A4-2347-ED3E15FF2DFE}"/>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Activity Diagram</a:t>
            </a:r>
            <a:endParaRPr lang="en-US" sz="3200" b="1" dirty="0">
              <a:solidFill>
                <a:srgbClr val="002060"/>
              </a:solidFill>
              <a:latin typeface="Cambria"/>
              <a:ea typeface="Cambria"/>
              <a:cs typeface="Cambria"/>
              <a:sym typeface="Cambria"/>
            </a:endParaRPr>
          </a:p>
        </p:txBody>
      </p:sp>
      <p:pic>
        <p:nvPicPr>
          <p:cNvPr id="6" name="Picture 5">
            <a:extLst>
              <a:ext uri="{FF2B5EF4-FFF2-40B4-BE49-F238E27FC236}">
                <a16:creationId xmlns:a16="http://schemas.microsoft.com/office/drawing/2014/main" id="{3EB5C56A-2BED-8EA4-1F11-FC5B18D2AB58}"/>
              </a:ext>
            </a:extLst>
          </p:cNvPr>
          <p:cNvPicPr>
            <a:picLocks noChangeAspect="1"/>
          </p:cNvPicPr>
          <p:nvPr/>
        </p:nvPicPr>
        <p:blipFill>
          <a:blip r:embed="rId2"/>
          <a:stretch>
            <a:fillRect/>
          </a:stretch>
        </p:blipFill>
        <p:spPr>
          <a:xfrm>
            <a:off x="2491273" y="1998752"/>
            <a:ext cx="3930878" cy="4859247"/>
          </a:xfrm>
          <a:prstGeom prst="rect">
            <a:avLst/>
          </a:prstGeom>
        </p:spPr>
      </p:pic>
    </p:spTree>
    <p:extLst>
      <p:ext uri="{BB962C8B-B14F-4D97-AF65-F5344CB8AC3E}">
        <p14:creationId xmlns:p14="http://schemas.microsoft.com/office/powerpoint/2010/main" val="120287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0EBCBE-1BEA-0E32-D6FF-B72C852F88A1}"/>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20</a:t>
            </a:fld>
            <a:endParaRPr/>
          </a:p>
        </p:txBody>
      </p:sp>
      <p:sp>
        <p:nvSpPr>
          <p:cNvPr id="5" name="Google Shape;187;p9">
            <a:extLst>
              <a:ext uri="{FF2B5EF4-FFF2-40B4-BE49-F238E27FC236}">
                <a16:creationId xmlns:a16="http://schemas.microsoft.com/office/drawing/2014/main" id="{1D39FD8E-2BD2-A0CA-388F-08D357B27656}"/>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Times New Roman"/>
                <a:ea typeface="Cambria"/>
                <a:cs typeface="Times New Roman"/>
                <a:sym typeface="Times New Roman"/>
              </a:rPr>
              <a:t>Collaboration Diagram</a:t>
            </a:r>
            <a:endParaRPr lang="en-US" sz="3200" b="1" dirty="0">
              <a:solidFill>
                <a:srgbClr val="002060"/>
              </a:solidFill>
              <a:latin typeface="Cambria"/>
              <a:ea typeface="Cambria"/>
              <a:cs typeface="Cambria"/>
              <a:sym typeface="Cambria"/>
            </a:endParaRPr>
          </a:p>
        </p:txBody>
      </p:sp>
      <p:pic>
        <p:nvPicPr>
          <p:cNvPr id="6" name="Picture 5">
            <a:extLst>
              <a:ext uri="{FF2B5EF4-FFF2-40B4-BE49-F238E27FC236}">
                <a16:creationId xmlns:a16="http://schemas.microsoft.com/office/drawing/2014/main" id="{3AEC046B-14D7-A292-AC84-7526ECA1EE9E}"/>
              </a:ext>
            </a:extLst>
          </p:cNvPr>
          <p:cNvPicPr>
            <a:picLocks noChangeAspect="1"/>
          </p:cNvPicPr>
          <p:nvPr/>
        </p:nvPicPr>
        <p:blipFill>
          <a:blip r:embed="rId2"/>
          <a:stretch>
            <a:fillRect/>
          </a:stretch>
        </p:blipFill>
        <p:spPr>
          <a:xfrm>
            <a:off x="1133256" y="2277526"/>
            <a:ext cx="7306695" cy="3848637"/>
          </a:xfrm>
          <a:prstGeom prst="rect">
            <a:avLst/>
          </a:prstGeom>
        </p:spPr>
      </p:pic>
      <p:sp>
        <p:nvSpPr>
          <p:cNvPr id="7" name="Text Placeholder 2">
            <a:extLst>
              <a:ext uri="{FF2B5EF4-FFF2-40B4-BE49-F238E27FC236}">
                <a16:creationId xmlns:a16="http://schemas.microsoft.com/office/drawing/2014/main" id="{FC84AF6A-690C-4096-19CA-A8E1E021E7CF}"/>
              </a:ext>
            </a:extLst>
          </p:cNvPr>
          <p:cNvSpPr>
            <a:spLocks noGrp="1"/>
          </p:cNvSpPr>
          <p:nvPr>
            <p:ph type="body" idx="1"/>
          </p:nvPr>
        </p:nvSpPr>
        <p:spPr>
          <a:xfrm>
            <a:off x="457200" y="923731"/>
            <a:ext cx="8229600" cy="981714"/>
          </a:xfrm>
        </p:spPr>
        <p:txBody>
          <a:bodyPr/>
          <a:lstStyle/>
          <a:p>
            <a:pPr marL="114300" indent="0" algn="just">
              <a:buNone/>
            </a:pPr>
            <a:r>
              <a:rPr lang="en-US" sz="1800" b="0" i="0" dirty="0">
                <a:solidFill>
                  <a:schemeClr val="tx1"/>
                </a:solidFill>
                <a:effectLst/>
                <a:latin typeface="Times New Roman" panose="02020603050405020304" pitchFamily="18" charset="0"/>
                <a:cs typeface="Times New Roman" panose="02020603050405020304" pitchFamily="18" charset="0"/>
              </a:rPr>
              <a:t>A collaboration diagram resembles a flowchart that portrays the roles, functionality and behavior of individual objects as well as the overall operation of the system in real time.</a:t>
            </a:r>
            <a:endParaRPr lang="en-US" dirty="0">
              <a:solidFill>
                <a:schemeClr val="tx1"/>
              </a:solidFill>
            </a:endParaRPr>
          </a:p>
        </p:txBody>
      </p:sp>
    </p:spTree>
    <p:extLst>
      <p:ext uri="{BB962C8B-B14F-4D97-AF65-F5344CB8AC3E}">
        <p14:creationId xmlns:p14="http://schemas.microsoft.com/office/powerpoint/2010/main" val="1517882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CCC1-BBC6-38AE-16B3-97A443BA8F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87D7C6-A633-7B19-74EA-833F79FDB1AE}"/>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21</a:t>
            </a:fld>
            <a:endParaRPr/>
          </a:p>
        </p:txBody>
      </p:sp>
      <p:sp>
        <p:nvSpPr>
          <p:cNvPr id="5" name="Google Shape;187;p9">
            <a:extLst>
              <a:ext uri="{FF2B5EF4-FFF2-40B4-BE49-F238E27FC236}">
                <a16:creationId xmlns:a16="http://schemas.microsoft.com/office/drawing/2014/main" id="{7B6B7A72-788F-30B3-C0F8-2D35627D7523}"/>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Cambria"/>
                <a:ea typeface="Cambria"/>
                <a:cs typeface="Cambria"/>
                <a:sym typeface="Cambria"/>
              </a:rPr>
              <a:t>Data Flow Diagram Level-0</a:t>
            </a:r>
          </a:p>
        </p:txBody>
      </p:sp>
      <p:sp>
        <p:nvSpPr>
          <p:cNvPr id="2" name="Rectangle 1">
            <a:extLst>
              <a:ext uri="{FF2B5EF4-FFF2-40B4-BE49-F238E27FC236}">
                <a16:creationId xmlns:a16="http://schemas.microsoft.com/office/drawing/2014/main" id="{93246526-AB6A-6B12-CC42-5C8CDED1A9A2}"/>
              </a:ext>
            </a:extLst>
          </p:cNvPr>
          <p:cNvSpPr/>
          <p:nvPr/>
        </p:nvSpPr>
        <p:spPr>
          <a:xfrm>
            <a:off x="3933196" y="1013647"/>
            <a:ext cx="772627" cy="301969"/>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Oval 7">
            <a:extLst>
              <a:ext uri="{FF2B5EF4-FFF2-40B4-BE49-F238E27FC236}">
                <a16:creationId xmlns:a16="http://schemas.microsoft.com/office/drawing/2014/main" id="{9FAB675E-5417-FC87-F442-5E046BDE9397}"/>
              </a:ext>
            </a:extLst>
          </p:cNvPr>
          <p:cNvSpPr/>
          <p:nvPr/>
        </p:nvSpPr>
        <p:spPr>
          <a:xfrm>
            <a:off x="3678189" y="1583164"/>
            <a:ext cx="1282622"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Encrypted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Oval 8">
            <a:extLst>
              <a:ext uri="{FF2B5EF4-FFF2-40B4-BE49-F238E27FC236}">
                <a16:creationId xmlns:a16="http://schemas.microsoft.com/office/drawing/2014/main" id="{329339A9-2C3A-108C-6097-401A969635B0}"/>
              </a:ext>
            </a:extLst>
          </p:cNvPr>
          <p:cNvSpPr/>
          <p:nvPr/>
        </p:nvSpPr>
        <p:spPr>
          <a:xfrm>
            <a:off x="3861615" y="2500896"/>
            <a:ext cx="90951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Upload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DBAF2434-3714-5619-3DAA-56A34E524EA2}"/>
              </a:ext>
            </a:extLst>
          </p:cNvPr>
          <p:cNvSpPr/>
          <p:nvPr/>
        </p:nvSpPr>
        <p:spPr>
          <a:xfrm>
            <a:off x="3880223" y="3452916"/>
            <a:ext cx="886460" cy="353972"/>
          </a:xfrm>
          <a:prstGeom prst="rect">
            <a:avLst/>
          </a:prstGeom>
          <a:solidFill>
            <a:schemeClr val="lt1"/>
          </a:solidFill>
          <a:ln w="63500" cap="flat" cmpd="thickThin">
            <a:solidFill>
              <a:srgbClr val="4AACC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Server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2" name="Oval 11">
            <a:extLst>
              <a:ext uri="{FF2B5EF4-FFF2-40B4-BE49-F238E27FC236}">
                <a16:creationId xmlns:a16="http://schemas.microsoft.com/office/drawing/2014/main" id="{AD20CF94-30A9-225E-747F-43DC9C46275A}"/>
              </a:ext>
            </a:extLst>
          </p:cNvPr>
          <p:cNvSpPr/>
          <p:nvPr/>
        </p:nvSpPr>
        <p:spPr>
          <a:xfrm>
            <a:off x="3701756" y="4214932"/>
            <a:ext cx="124847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Download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5" name="Rectangle 14">
            <a:extLst>
              <a:ext uri="{FF2B5EF4-FFF2-40B4-BE49-F238E27FC236}">
                <a16:creationId xmlns:a16="http://schemas.microsoft.com/office/drawing/2014/main" id="{9F15028E-3BDE-FF96-8D54-D34A25C034D6}"/>
              </a:ext>
            </a:extLst>
          </p:cNvPr>
          <p:cNvSpPr/>
          <p:nvPr/>
        </p:nvSpPr>
        <p:spPr>
          <a:xfrm>
            <a:off x="3503555" y="5471501"/>
            <a:ext cx="1657350" cy="404177"/>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Retrieve original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cxnSp>
        <p:nvCxnSpPr>
          <p:cNvPr id="18" name="Straight Arrow Connector 17">
            <a:extLst>
              <a:ext uri="{FF2B5EF4-FFF2-40B4-BE49-F238E27FC236}">
                <a16:creationId xmlns:a16="http://schemas.microsoft.com/office/drawing/2014/main" id="{F0BE3374-53C0-1F9A-4473-5710B45D8DE8}"/>
              </a:ext>
            </a:extLst>
          </p:cNvPr>
          <p:cNvCxnSpPr>
            <a:cxnSpLocks/>
            <a:endCxn id="8" idx="0"/>
          </p:cNvCxnSpPr>
          <p:nvPr/>
        </p:nvCxnSpPr>
        <p:spPr>
          <a:xfrm flipH="1">
            <a:off x="4319500" y="1315616"/>
            <a:ext cx="1" cy="267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AEB726-0C7C-1924-15A3-25279E900D89}"/>
              </a:ext>
            </a:extLst>
          </p:cNvPr>
          <p:cNvCxnSpPr>
            <a:cxnSpLocks/>
            <a:stCxn id="8" idx="4"/>
            <a:endCxn id="9" idx="0"/>
          </p:cNvCxnSpPr>
          <p:nvPr/>
        </p:nvCxnSpPr>
        <p:spPr>
          <a:xfrm flipH="1">
            <a:off x="4316372" y="2230014"/>
            <a:ext cx="3128"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5ABADE-4AE9-959B-96F1-5B3B6951C2EE}"/>
              </a:ext>
            </a:extLst>
          </p:cNvPr>
          <p:cNvCxnSpPr>
            <a:cxnSpLocks/>
            <a:stCxn id="9" idx="4"/>
            <a:endCxn id="10" idx="0"/>
          </p:cNvCxnSpPr>
          <p:nvPr/>
        </p:nvCxnSpPr>
        <p:spPr>
          <a:xfrm>
            <a:off x="4316372" y="3147746"/>
            <a:ext cx="7081" cy="305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6CC56B7-EA4D-FCE2-07C0-47F7F9090116}"/>
              </a:ext>
            </a:extLst>
          </p:cNvPr>
          <p:cNvCxnSpPr>
            <a:cxnSpLocks/>
            <a:stCxn id="10" idx="2"/>
            <a:endCxn id="12" idx="0"/>
          </p:cNvCxnSpPr>
          <p:nvPr/>
        </p:nvCxnSpPr>
        <p:spPr>
          <a:xfrm>
            <a:off x="4323453" y="3806888"/>
            <a:ext cx="2540" cy="408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8B842EF-71CC-B714-559A-1C3C900739AE}"/>
              </a:ext>
            </a:extLst>
          </p:cNvPr>
          <p:cNvCxnSpPr>
            <a:cxnSpLocks/>
            <a:stCxn id="12" idx="4"/>
            <a:endCxn id="15" idx="0"/>
          </p:cNvCxnSpPr>
          <p:nvPr/>
        </p:nvCxnSpPr>
        <p:spPr>
          <a:xfrm>
            <a:off x="4325993" y="4861782"/>
            <a:ext cx="6237" cy="60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06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CCC1-BBC6-38AE-16B3-97A443BA8F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87D7C6-A633-7B19-74EA-833F79FDB1AE}"/>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22</a:t>
            </a:fld>
            <a:endParaRPr/>
          </a:p>
        </p:txBody>
      </p:sp>
      <p:sp>
        <p:nvSpPr>
          <p:cNvPr id="5" name="Google Shape;187;p9">
            <a:extLst>
              <a:ext uri="{FF2B5EF4-FFF2-40B4-BE49-F238E27FC236}">
                <a16:creationId xmlns:a16="http://schemas.microsoft.com/office/drawing/2014/main" id="{7B6B7A72-788F-30B3-C0F8-2D35627D7523}"/>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Cambria"/>
                <a:ea typeface="Cambria"/>
                <a:cs typeface="Cambria"/>
                <a:sym typeface="Cambria"/>
              </a:rPr>
              <a:t>Data Flow Diagram Level-1</a:t>
            </a:r>
          </a:p>
        </p:txBody>
      </p:sp>
      <p:sp>
        <p:nvSpPr>
          <p:cNvPr id="2" name="Rectangle 1">
            <a:extLst>
              <a:ext uri="{FF2B5EF4-FFF2-40B4-BE49-F238E27FC236}">
                <a16:creationId xmlns:a16="http://schemas.microsoft.com/office/drawing/2014/main" id="{93246526-AB6A-6B12-CC42-5C8CDED1A9A2}"/>
              </a:ext>
            </a:extLst>
          </p:cNvPr>
          <p:cNvSpPr/>
          <p:nvPr/>
        </p:nvSpPr>
        <p:spPr>
          <a:xfrm>
            <a:off x="3121435" y="1013647"/>
            <a:ext cx="772627" cy="301969"/>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Oval 7">
            <a:extLst>
              <a:ext uri="{FF2B5EF4-FFF2-40B4-BE49-F238E27FC236}">
                <a16:creationId xmlns:a16="http://schemas.microsoft.com/office/drawing/2014/main" id="{9FAB675E-5417-FC87-F442-5E046BDE9397}"/>
              </a:ext>
            </a:extLst>
          </p:cNvPr>
          <p:cNvSpPr/>
          <p:nvPr/>
        </p:nvSpPr>
        <p:spPr>
          <a:xfrm>
            <a:off x="2866428" y="1583164"/>
            <a:ext cx="1282622"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Encrypted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Oval 8">
            <a:extLst>
              <a:ext uri="{FF2B5EF4-FFF2-40B4-BE49-F238E27FC236}">
                <a16:creationId xmlns:a16="http://schemas.microsoft.com/office/drawing/2014/main" id="{329339A9-2C3A-108C-6097-401A969635B0}"/>
              </a:ext>
            </a:extLst>
          </p:cNvPr>
          <p:cNvSpPr/>
          <p:nvPr/>
        </p:nvSpPr>
        <p:spPr>
          <a:xfrm>
            <a:off x="3049854" y="2500896"/>
            <a:ext cx="90951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Upload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DBAF2434-3714-5619-3DAA-56A34E524EA2}"/>
              </a:ext>
            </a:extLst>
          </p:cNvPr>
          <p:cNvSpPr/>
          <p:nvPr/>
        </p:nvSpPr>
        <p:spPr>
          <a:xfrm>
            <a:off x="3068462" y="3452916"/>
            <a:ext cx="886460" cy="353972"/>
          </a:xfrm>
          <a:prstGeom prst="rect">
            <a:avLst/>
          </a:prstGeom>
          <a:solidFill>
            <a:schemeClr val="lt1"/>
          </a:solidFill>
          <a:ln w="63500" cap="flat" cmpd="thickThin">
            <a:solidFill>
              <a:srgbClr val="4AACC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Server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6922AF34-6604-0878-03FE-EE324ED7A907}"/>
              </a:ext>
            </a:extLst>
          </p:cNvPr>
          <p:cNvSpPr/>
          <p:nvPr/>
        </p:nvSpPr>
        <p:spPr>
          <a:xfrm>
            <a:off x="5823560" y="3444394"/>
            <a:ext cx="1066800" cy="353972"/>
          </a:xfrm>
          <a:prstGeom prst="rect">
            <a:avLst/>
          </a:prstGeom>
          <a:solidFill>
            <a:schemeClr val="lt1"/>
          </a:solidFill>
          <a:ln w="63500" cap="flat" cmpd="thickThin">
            <a:solidFill>
              <a:srgbClr val="4AACC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Public verifier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2" name="Oval 11">
            <a:extLst>
              <a:ext uri="{FF2B5EF4-FFF2-40B4-BE49-F238E27FC236}">
                <a16:creationId xmlns:a16="http://schemas.microsoft.com/office/drawing/2014/main" id="{AD20CF94-30A9-225E-747F-43DC9C46275A}"/>
              </a:ext>
            </a:extLst>
          </p:cNvPr>
          <p:cNvSpPr/>
          <p:nvPr/>
        </p:nvSpPr>
        <p:spPr>
          <a:xfrm>
            <a:off x="2889995" y="4214932"/>
            <a:ext cx="124847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Download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3" name="Oval 12">
            <a:extLst>
              <a:ext uri="{FF2B5EF4-FFF2-40B4-BE49-F238E27FC236}">
                <a16:creationId xmlns:a16="http://schemas.microsoft.com/office/drawing/2014/main" id="{85DDBB52-20C7-B75A-6399-A8D196207835}"/>
              </a:ext>
            </a:extLst>
          </p:cNvPr>
          <p:cNvSpPr/>
          <p:nvPr/>
        </p:nvSpPr>
        <p:spPr>
          <a:xfrm>
            <a:off x="5823560" y="4097752"/>
            <a:ext cx="1066800"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Public Auditing</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5" name="Rectangle 14">
            <a:extLst>
              <a:ext uri="{FF2B5EF4-FFF2-40B4-BE49-F238E27FC236}">
                <a16:creationId xmlns:a16="http://schemas.microsoft.com/office/drawing/2014/main" id="{9F15028E-3BDE-FF96-8D54-D34A25C034D6}"/>
              </a:ext>
            </a:extLst>
          </p:cNvPr>
          <p:cNvSpPr/>
          <p:nvPr/>
        </p:nvSpPr>
        <p:spPr>
          <a:xfrm>
            <a:off x="2691794" y="5471501"/>
            <a:ext cx="1657350" cy="404177"/>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Retrieve original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cxnSp>
        <p:nvCxnSpPr>
          <p:cNvPr id="18" name="Straight Arrow Connector 17">
            <a:extLst>
              <a:ext uri="{FF2B5EF4-FFF2-40B4-BE49-F238E27FC236}">
                <a16:creationId xmlns:a16="http://schemas.microsoft.com/office/drawing/2014/main" id="{F0BE3374-53C0-1F9A-4473-5710B45D8DE8}"/>
              </a:ext>
            </a:extLst>
          </p:cNvPr>
          <p:cNvCxnSpPr>
            <a:cxnSpLocks/>
            <a:endCxn id="8" idx="0"/>
          </p:cNvCxnSpPr>
          <p:nvPr/>
        </p:nvCxnSpPr>
        <p:spPr>
          <a:xfrm flipH="1">
            <a:off x="3507739" y="1315616"/>
            <a:ext cx="1" cy="267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AEB726-0C7C-1924-15A3-25279E900D89}"/>
              </a:ext>
            </a:extLst>
          </p:cNvPr>
          <p:cNvCxnSpPr>
            <a:stCxn id="8" idx="4"/>
            <a:endCxn id="9" idx="0"/>
          </p:cNvCxnSpPr>
          <p:nvPr/>
        </p:nvCxnSpPr>
        <p:spPr>
          <a:xfrm flipH="1">
            <a:off x="3504611" y="2230014"/>
            <a:ext cx="3128"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5ABADE-4AE9-959B-96F1-5B3B6951C2EE}"/>
              </a:ext>
            </a:extLst>
          </p:cNvPr>
          <p:cNvCxnSpPr>
            <a:stCxn id="9" idx="4"/>
            <a:endCxn id="10" idx="0"/>
          </p:cNvCxnSpPr>
          <p:nvPr/>
        </p:nvCxnSpPr>
        <p:spPr>
          <a:xfrm>
            <a:off x="3504611" y="3147746"/>
            <a:ext cx="7081" cy="305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3E963F9-4672-6B93-E9E4-2F4772A03E46}"/>
              </a:ext>
            </a:extLst>
          </p:cNvPr>
          <p:cNvCxnSpPr>
            <a:cxnSpLocks/>
          </p:cNvCxnSpPr>
          <p:nvPr/>
        </p:nvCxnSpPr>
        <p:spPr>
          <a:xfrm flipV="1">
            <a:off x="3954922" y="3510579"/>
            <a:ext cx="1868638" cy="8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6CC56B7-EA4D-FCE2-07C0-47F7F9090116}"/>
              </a:ext>
            </a:extLst>
          </p:cNvPr>
          <p:cNvCxnSpPr>
            <a:stCxn id="10" idx="2"/>
            <a:endCxn id="12" idx="0"/>
          </p:cNvCxnSpPr>
          <p:nvPr/>
        </p:nvCxnSpPr>
        <p:spPr>
          <a:xfrm>
            <a:off x="3511692" y="3806888"/>
            <a:ext cx="2540" cy="408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8B842EF-71CC-B714-559A-1C3C900739AE}"/>
              </a:ext>
            </a:extLst>
          </p:cNvPr>
          <p:cNvCxnSpPr>
            <a:stCxn id="12" idx="4"/>
            <a:endCxn id="15" idx="0"/>
          </p:cNvCxnSpPr>
          <p:nvPr/>
        </p:nvCxnSpPr>
        <p:spPr>
          <a:xfrm>
            <a:off x="3514232" y="4861782"/>
            <a:ext cx="6237" cy="60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2ED1A0-430C-4536-0047-C22CAB19FD69}"/>
              </a:ext>
            </a:extLst>
          </p:cNvPr>
          <p:cNvCxnSpPr>
            <a:cxnSpLocks/>
            <a:endCxn id="13" idx="1"/>
          </p:cNvCxnSpPr>
          <p:nvPr/>
        </p:nvCxnSpPr>
        <p:spPr>
          <a:xfrm>
            <a:off x="5974405" y="3806888"/>
            <a:ext cx="5384" cy="38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57237BE-7CC0-0BE8-01F5-F5CA1346BD33}"/>
              </a:ext>
            </a:extLst>
          </p:cNvPr>
          <p:cNvCxnSpPr>
            <a:stCxn id="13" idx="7"/>
          </p:cNvCxnSpPr>
          <p:nvPr/>
        </p:nvCxnSpPr>
        <p:spPr>
          <a:xfrm flipV="1">
            <a:off x="6734131" y="3806888"/>
            <a:ext cx="2570" cy="38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8ACA29A-9FF4-D0D3-DFDE-0494D5BD7F1E}"/>
              </a:ext>
            </a:extLst>
          </p:cNvPr>
          <p:cNvCxnSpPr>
            <a:cxnSpLocks/>
          </p:cNvCxnSpPr>
          <p:nvPr/>
        </p:nvCxnSpPr>
        <p:spPr>
          <a:xfrm flipH="1">
            <a:off x="3954922" y="3714690"/>
            <a:ext cx="1868638" cy="8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486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CCC1-BBC6-38AE-16B3-97A443BA8F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87D7C6-A633-7B19-74EA-833F79FDB1AE}"/>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23</a:t>
            </a:fld>
            <a:endParaRPr/>
          </a:p>
        </p:txBody>
      </p:sp>
      <p:sp>
        <p:nvSpPr>
          <p:cNvPr id="5" name="Google Shape;187;p9">
            <a:extLst>
              <a:ext uri="{FF2B5EF4-FFF2-40B4-BE49-F238E27FC236}">
                <a16:creationId xmlns:a16="http://schemas.microsoft.com/office/drawing/2014/main" id="{7B6B7A72-788F-30B3-C0F8-2D35627D7523}"/>
              </a:ext>
            </a:extLst>
          </p:cNvPr>
          <p:cNvSpPr txBox="1">
            <a:spLocks/>
          </p:cNvSpPr>
          <p:nvPr/>
        </p:nvSpPr>
        <p:spPr>
          <a:xfrm>
            <a:off x="0" y="274638"/>
            <a:ext cx="9144000" cy="574448"/>
          </a:xfrm>
          <a:prstGeom prst="rect">
            <a:avLst/>
          </a:prstGeom>
          <a:solidFill>
            <a:srgbClr val="B2A0C7"/>
          </a:solid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r>
              <a:rPr lang="en-US" sz="3200" b="1" dirty="0">
                <a:solidFill>
                  <a:srgbClr val="002060"/>
                </a:solidFill>
                <a:latin typeface="Cambria"/>
                <a:ea typeface="Cambria"/>
                <a:cs typeface="Cambria"/>
                <a:sym typeface="Cambria"/>
              </a:rPr>
              <a:t>Data Flow Diagram Level-2</a:t>
            </a:r>
          </a:p>
        </p:txBody>
      </p:sp>
      <p:sp>
        <p:nvSpPr>
          <p:cNvPr id="2" name="Rectangle 1">
            <a:extLst>
              <a:ext uri="{FF2B5EF4-FFF2-40B4-BE49-F238E27FC236}">
                <a16:creationId xmlns:a16="http://schemas.microsoft.com/office/drawing/2014/main" id="{93246526-AB6A-6B12-CC42-5C8CDED1A9A2}"/>
              </a:ext>
            </a:extLst>
          </p:cNvPr>
          <p:cNvSpPr/>
          <p:nvPr/>
        </p:nvSpPr>
        <p:spPr>
          <a:xfrm>
            <a:off x="3121435" y="1013647"/>
            <a:ext cx="772627" cy="301969"/>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Oval 7">
            <a:extLst>
              <a:ext uri="{FF2B5EF4-FFF2-40B4-BE49-F238E27FC236}">
                <a16:creationId xmlns:a16="http://schemas.microsoft.com/office/drawing/2014/main" id="{9FAB675E-5417-FC87-F442-5E046BDE9397}"/>
              </a:ext>
            </a:extLst>
          </p:cNvPr>
          <p:cNvSpPr/>
          <p:nvPr/>
        </p:nvSpPr>
        <p:spPr>
          <a:xfrm>
            <a:off x="2866428" y="1583164"/>
            <a:ext cx="1282622"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Encrypted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Oval 8">
            <a:extLst>
              <a:ext uri="{FF2B5EF4-FFF2-40B4-BE49-F238E27FC236}">
                <a16:creationId xmlns:a16="http://schemas.microsoft.com/office/drawing/2014/main" id="{329339A9-2C3A-108C-6097-401A969635B0}"/>
              </a:ext>
            </a:extLst>
          </p:cNvPr>
          <p:cNvSpPr/>
          <p:nvPr/>
        </p:nvSpPr>
        <p:spPr>
          <a:xfrm>
            <a:off x="3049854" y="2500896"/>
            <a:ext cx="90951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Upload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DBAF2434-3714-5619-3DAA-56A34E524EA2}"/>
              </a:ext>
            </a:extLst>
          </p:cNvPr>
          <p:cNvSpPr/>
          <p:nvPr/>
        </p:nvSpPr>
        <p:spPr>
          <a:xfrm>
            <a:off x="3068462" y="3452916"/>
            <a:ext cx="886460" cy="353972"/>
          </a:xfrm>
          <a:prstGeom prst="rect">
            <a:avLst/>
          </a:prstGeom>
          <a:solidFill>
            <a:schemeClr val="lt1"/>
          </a:solidFill>
          <a:ln w="63500" cap="flat" cmpd="thickThin">
            <a:solidFill>
              <a:srgbClr val="4AACC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Server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1" name="Rectangle 10">
            <a:extLst>
              <a:ext uri="{FF2B5EF4-FFF2-40B4-BE49-F238E27FC236}">
                <a16:creationId xmlns:a16="http://schemas.microsoft.com/office/drawing/2014/main" id="{6922AF34-6604-0878-03FE-EE324ED7A907}"/>
              </a:ext>
            </a:extLst>
          </p:cNvPr>
          <p:cNvSpPr/>
          <p:nvPr/>
        </p:nvSpPr>
        <p:spPr>
          <a:xfrm>
            <a:off x="5823560" y="3444394"/>
            <a:ext cx="1066800" cy="353972"/>
          </a:xfrm>
          <a:prstGeom prst="rect">
            <a:avLst/>
          </a:prstGeom>
          <a:solidFill>
            <a:schemeClr val="lt1"/>
          </a:solidFill>
          <a:ln w="63500" cap="flat" cmpd="thickThin">
            <a:solidFill>
              <a:srgbClr val="4AACC5"/>
            </a:solidFill>
            <a:prstDash val="solid"/>
            <a:miter lim="800000"/>
            <a:headEnd type="none" w="sm" len="sm"/>
            <a:tailEnd type="none" w="sm" len="sm"/>
          </a:ln>
        </p:spPr>
        <p:txBody>
          <a:bodyPr spcFirstLastPara="1" wrap="square" lIns="91425" tIns="45700" rIns="91425" bIns="45700" anchor="t" anchorCtr="0">
            <a:noAutofit/>
          </a:bodyPr>
          <a:lstStyle/>
          <a:p>
            <a:pPr algn="ct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Public verifier</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2" name="Oval 11">
            <a:extLst>
              <a:ext uri="{FF2B5EF4-FFF2-40B4-BE49-F238E27FC236}">
                <a16:creationId xmlns:a16="http://schemas.microsoft.com/office/drawing/2014/main" id="{AD20CF94-30A9-225E-747F-43DC9C46275A}"/>
              </a:ext>
            </a:extLst>
          </p:cNvPr>
          <p:cNvSpPr/>
          <p:nvPr/>
        </p:nvSpPr>
        <p:spPr>
          <a:xfrm>
            <a:off x="2889995" y="4214932"/>
            <a:ext cx="1248474"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Download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3" name="Oval 12">
            <a:extLst>
              <a:ext uri="{FF2B5EF4-FFF2-40B4-BE49-F238E27FC236}">
                <a16:creationId xmlns:a16="http://schemas.microsoft.com/office/drawing/2014/main" id="{85DDBB52-20C7-B75A-6399-A8D196207835}"/>
              </a:ext>
            </a:extLst>
          </p:cNvPr>
          <p:cNvSpPr/>
          <p:nvPr/>
        </p:nvSpPr>
        <p:spPr>
          <a:xfrm>
            <a:off x="5823560" y="4097752"/>
            <a:ext cx="1066800" cy="646850"/>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Public Auditing</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4" name="Oval 13">
            <a:extLst>
              <a:ext uri="{FF2B5EF4-FFF2-40B4-BE49-F238E27FC236}">
                <a16:creationId xmlns:a16="http://schemas.microsoft.com/office/drawing/2014/main" id="{DBE99B5D-D9CA-1ED1-F979-BE5123686F9E}"/>
              </a:ext>
            </a:extLst>
          </p:cNvPr>
          <p:cNvSpPr/>
          <p:nvPr/>
        </p:nvSpPr>
        <p:spPr>
          <a:xfrm>
            <a:off x="5577317" y="5181507"/>
            <a:ext cx="1596610" cy="644627"/>
          </a:xfrm>
          <a:prstGeom prst="ellipse">
            <a:avLst/>
          </a:prstGeom>
          <a:solidFill>
            <a:schemeClr val="lt1"/>
          </a:solidFill>
          <a:ln w="63500" cap="flat" cmpd="thickThin">
            <a:solidFill>
              <a:srgbClr val="4AACC5"/>
            </a:solidFill>
            <a:prstDash val="solid"/>
            <a:round/>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Homomorphic signature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5" name="Rectangle 14">
            <a:extLst>
              <a:ext uri="{FF2B5EF4-FFF2-40B4-BE49-F238E27FC236}">
                <a16:creationId xmlns:a16="http://schemas.microsoft.com/office/drawing/2014/main" id="{9F15028E-3BDE-FF96-8D54-D34A25C034D6}"/>
              </a:ext>
            </a:extLst>
          </p:cNvPr>
          <p:cNvSpPr/>
          <p:nvPr/>
        </p:nvSpPr>
        <p:spPr>
          <a:xfrm>
            <a:off x="2691794" y="5471501"/>
            <a:ext cx="1657350" cy="404177"/>
          </a:xfrm>
          <a:prstGeom prst="rect">
            <a:avLst/>
          </a:prstGeom>
          <a:solidFill>
            <a:schemeClr val="lt1"/>
          </a:solidFill>
          <a:ln w="63500" cap="flat" cmpd="thickThin">
            <a:solidFill>
              <a:srgbClr val="F79544"/>
            </a:solidFill>
            <a:prstDash val="solid"/>
            <a:miter lim="800000"/>
            <a:headEnd type="none" w="sm" len="sm"/>
            <a:tailEnd type="none" w="sm" len="sm"/>
          </a:ln>
        </p:spPr>
        <p:txBody>
          <a:bodyPr spcFirstLastPara="1" wrap="square" lIns="91425" tIns="45700" rIns="91425" bIns="45700" anchor="t" anchorCtr="0">
            <a:noAutofit/>
          </a:bodyPr>
          <a:lstStyle/>
          <a:p>
            <a:pPr>
              <a:lnSpc>
                <a:spcPct val="114000"/>
              </a:lnSpc>
              <a:spcAft>
                <a:spcPts val="1000"/>
              </a:spcAft>
            </a:pPr>
            <a:r>
              <a:rPr lang="en-IN"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Retrieve original file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4000"/>
              </a:lnSpc>
              <a:spcAft>
                <a:spcPts val="1000"/>
              </a:spcAf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cxnSp>
        <p:nvCxnSpPr>
          <p:cNvPr id="18" name="Straight Arrow Connector 17">
            <a:extLst>
              <a:ext uri="{FF2B5EF4-FFF2-40B4-BE49-F238E27FC236}">
                <a16:creationId xmlns:a16="http://schemas.microsoft.com/office/drawing/2014/main" id="{F0BE3374-53C0-1F9A-4473-5710B45D8DE8}"/>
              </a:ext>
            </a:extLst>
          </p:cNvPr>
          <p:cNvCxnSpPr>
            <a:cxnSpLocks/>
            <a:endCxn id="8" idx="0"/>
          </p:cNvCxnSpPr>
          <p:nvPr/>
        </p:nvCxnSpPr>
        <p:spPr>
          <a:xfrm flipH="1">
            <a:off x="3507739" y="1315616"/>
            <a:ext cx="1" cy="267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AEB726-0C7C-1924-15A3-25279E900D89}"/>
              </a:ext>
            </a:extLst>
          </p:cNvPr>
          <p:cNvCxnSpPr>
            <a:stCxn id="8" idx="4"/>
            <a:endCxn id="9" idx="0"/>
          </p:cNvCxnSpPr>
          <p:nvPr/>
        </p:nvCxnSpPr>
        <p:spPr>
          <a:xfrm flipH="1">
            <a:off x="3504611" y="2230014"/>
            <a:ext cx="3128" cy="270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5ABADE-4AE9-959B-96F1-5B3B6951C2EE}"/>
              </a:ext>
            </a:extLst>
          </p:cNvPr>
          <p:cNvCxnSpPr>
            <a:stCxn id="9" idx="4"/>
            <a:endCxn id="10" idx="0"/>
          </p:cNvCxnSpPr>
          <p:nvPr/>
        </p:nvCxnSpPr>
        <p:spPr>
          <a:xfrm>
            <a:off x="3504611" y="3147746"/>
            <a:ext cx="7081" cy="305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3E963F9-4672-6B93-E9E4-2F4772A03E46}"/>
              </a:ext>
            </a:extLst>
          </p:cNvPr>
          <p:cNvCxnSpPr>
            <a:cxnSpLocks/>
          </p:cNvCxnSpPr>
          <p:nvPr/>
        </p:nvCxnSpPr>
        <p:spPr>
          <a:xfrm flipV="1">
            <a:off x="3954922" y="3510579"/>
            <a:ext cx="1868638" cy="8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6CC56B7-EA4D-FCE2-07C0-47F7F9090116}"/>
              </a:ext>
            </a:extLst>
          </p:cNvPr>
          <p:cNvCxnSpPr>
            <a:stCxn id="10" idx="2"/>
            <a:endCxn id="12" idx="0"/>
          </p:cNvCxnSpPr>
          <p:nvPr/>
        </p:nvCxnSpPr>
        <p:spPr>
          <a:xfrm>
            <a:off x="3511692" y="3806888"/>
            <a:ext cx="2540" cy="408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8B842EF-71CC-B714-559A-1C3C900739AE}"/>
              </a:ext>
            </a:extLst>
          </p:cNvPr>
          <p:cNvCxnSpPr>
            <a:stCxn id="12" idx="4"/>
            <a:endCxn id="15" idx="0"/>
          </p:cNvCxnSpPr>
          <p:nvPr/>
        </p:nvCxnSpPr>
        <p:spPr>
          <a:xfrm>
            <a:off x="3514232" y="4861782"/>
            <a:ext cx="6237" cy="609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2ED1A0-430C-4536-0047-C22CAB19FD69}"/>
              </a:ext>
            </a:extLst>
          </p:cNvPr>
          <p:cNvCxnSpPr>
            <a:cxnSpLocks/>
            <a:endCxn id="13" idx="1"/>
          </p:cNvCxnSpPr>
          <p:nvPr/>
        </p:nvCxnSpPr>
        <p:spPr>
          <a:xfrm>
            <a:off x="5974405" y="3806888"/>
            <a:ext cx="5384" cy="38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3CF0B6D-7A4B-591D-D456-916CD3020258}"/>
              </a:ext>
            </a:extLst>
          </p:cNvPr>
          <p:cNvCxnSpPr>
            <a:stCxn id="13" idx="3"/>
          </p:cNvCxnSpPr>
          <p:nvPr/>
        </p:nvCxnSpPr>
        <p:spPr>
          <a:xfrm>
            <a:off x="5979789" y="4649873"/>
            <a:ext cx="10463" cy="531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BDEB967-4E93-39DA-F848-701358FADAA6}"/>
              </a:ext>
            </a:extLst>
          </p:cNvPr>
          <p:cNvCxnSpPr>
            <a:cxnSpLocks/>
          </p:cNvCxnSpPr>
          <p:nvPr/>
        </p:nvCxnSpPr>
        <p:spPr>
          <a:xfrm flipV="1">
            <a:off x="6597789" y="4649873"/>
            <a:ext cx="0" cy="516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57237BE-7CC0-0BE8-01F5-F5CA1346BD33}"/>
              </a:ext>
            </a:extLst>
          </p:cNvPr>
          <p:cNvCxnSpPr>
            <a:stCxn id="13" idx="7"/>
          </p:cNvCxnSpPr>
          <p:nvPr/>
        </p:nvCxnSpPr>
        <p:spPr>
          <a:xfrm flipV="1">
            <a:off x="6734131" y="3806888"/>
            <a:ext cx="2570" cy="38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8ACA29A-9FF4-D0D3-DFDE-0494D5BD7F1E}"/>
              </a:ext>
            </a:extLst>
          </p:cNvPr>
          <p:cNvCxnSpPr>
            <a:cxnSpLocks/>
          </p:cNvCxnSpPr>
          <p:nvPr/>
        </p:nvCxnSpPr>
        <p:spPr>
          <a:xfrm flipH="1">
            <a:off x="3954922" y="3714690"/>
            <a:ext cx="1868638" cy="8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394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9DB6-1417-2B11-A563-537DFB2772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B1C29-D015-3CC3-DAD2-AB200FA2D0C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24</a:t>
            </a:fld>
            <a:endParaRPr/>
          </a:p>
        </p:txBody>
      </p:sp>
      <p:sp>
        <p:nvSpPr>
          <p:cNvPr id="5" name="Google Shape;187;p9">
            <a:extLst>
              <a:ext uri="{FF2B5EF4-FFF2-40B4-BE49-F238E27FC236}">
                <a16:creationId xmlns:a16="http://schemas.microsoft.com/office/drawing/2014/main" id="{BE88777D-2ED7-9F14-67CA-D58A44773C73}"/>
              </a:ext>
            </a:extLst>
          </p:cNvPr>
          <p:cNvSpPr txBox="1">
            <a:spLocks noGrp="1"/>
          </p:cNvSpPr>
          <p:nvPr>
            <p:ph type="title"/>
          </p:nvPr>
        </p:nvSpPr>
        <p:spPr>
          <a:xfrm>
            <a:off x="0" y="993089"/>
            <a:ext cx="9144000" cy="53713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Cambria"/>
                <a:ea typeface="Cambria"/>
                <a:cs typeface="Cambria"/>
                <a:sym typeface="Cambria"/>
              </a:rPr>
              <a:t>Algorithms</a:t>
            </a:r>
            <a:endParaRPr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DE44F955-694D-C190-4075-76B8FC86CA5E}"/>
              </a:ext>
            </a:extLst>
          </p:cNvPr>
          <p:cNvPicPr preferRelativeResize="0"/>
          <p:nvPr/>
        </p:nvPicPr>
        <p:blipFill rotWithShape="1">
          <a:blip r:embed="rId2">
            <a:alphaModFix/>
          </a:blip>
          <a:srcRect/>
          <a:stretch/>
        </p:blipFill>
        <p:spPr>
          <a:xfrm>
            <a:off x="48518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5EAB07B0-3B57-83D8-8460-C92145498E16}"/>
              </a:ext>
            </a:extLst>
          </p:cNvPr>
          <p:cNvSpPr txBox="1"/>
          <p:nvPr/>
        </p:nvSpPr>
        <p:spPr>
          <a:xfrm>
            <a:off x="559836" y="55924"/>
            <a:ext cx="6212461"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EFE0BF11-E648-FCD4-9213-14C2FC4A2ADF}"/>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BAA936BB-166B-F1EF-4B73-7771C7AF26AD}"/>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
        <p:nvSpPr>
          <p:cNvPr id="3" name="TextBox 2">
            <a:extLst>
              <a:ext uri="{FF2B5EF4-FFF2-40B4-BE49-F238E27FC236}">
                <a16:creationId xmlns:a16="http://schemas.microsoft.com/office/drawing/2014/main" id="{5E4B5E1B-B51B-6967-3F62-513D27B14F5E}"/>
              </a:ext>
            </a:extLst>
          </p:cNvPr>
          <p:cNvSpPr txBox="1"/>
          <p:nvPr/>
        </p:nvSpPr>
        <p:spPr>
          <a:xfrm>
            <a:off x="457200" y="1635963"/>
            <a:ext cx="8453535" cy="4308872"/>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rPr>
              <a:t>Advanced Encryption Standard (AES):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Efficient Symmetric Encryption:</a:t>
            </a:r>
            <a:r>
              <a:rPr lang="en-US" sz="1600" dirty="0">
                <a:latin typeface="Times New Roman" panose="02020603050405020304" pitchFamily="18" charset="0"/>
                <a:cs typeface="Times New Roman" panose="02020603050405020304" pitchFamily="18" charset="0"/>
              </a:rPr>
              <a:t> AES offers efficient symmetric encryption, operating on entire blocks of data simultaneously rather than individual bits, enhancing its performance and robustness.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Flexible Key Lengths:</a:t>
            </a:r>
            <a:r>
              <a:rPr lang="en-US" sz="1600" dirty="0">
                <a:latin typeface="Times New Roman" panose="02020603050405020304" pitchFamily="18" charset="0"/>
                <a:cs typeface="Times New Roman" panose="02020603050405020304" pitchFamily="18" charset="0"/>
              </a:rPr>
              <a:t> AES supports key lengths of 128-bit, 192-bit, and 256-bit, providing flexibility to adapt to varying security requirements and ensuring scalability for different applications.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Matrix-Based Computation:</a:t>
            </a:r>
            <a:r>
              <a:rPr lang="en-US" sz="1600" dirty="0">
                <a:latin typeface="Times New Roman" panose="02020603050405020304" pitchFamily="18" charset="0"/>
                <a:cs typeface="Times New Roman" panose="02020603050405020304" pitchFamily="18" charset="0"/>
              </a:rPr>
              <a:t> AES employs a matrix-based computation approach, organizing plaintext blocks into a four-column, four-row matrix format, facilitating streamlined encryption and decryption processes.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Confidentiality and Security:</a:t>
            </a:r>
            <a:r>
              <a:rPr lang="en-US" sz="1600" dirty="0">
                <a:latin typeface="Times New Roman" panose="02020603050405020304" pitchFamily="18" charset="0"/>
                <a:cs typeface="Times New Roman" panose="02020603050405020304" pitchFamily="18" charset="0"/>
              </a:rPr>
              <a:t> By utilizing AES for encryption and decryption of shared data, the project ensures confidentiality and security, safeguarding sensitive information from unauthorized access and enhancing the overall integrity of the proposed privacy-preserving mechanism for cloud storage systems.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432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9DB6-1417-2B11-A563-537DFB2772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B1C29-D015-3CC3-DAD2-AB200FA2D0C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25</a:t>
            </a:fld>
            <a:endParaRPr/>
          </a:p>
        </p:txBody>
      </p:sp>
      <p:sp>
        <p:nvSpPr>
          <p:cNvPr id="5" name="Google Shape;187;p9">
            <a:extLst>
              <a:ext uri="{FF2B5EF4-FFF2-40B4-BE49-F238E27FC236}">
                <a16:creationId xmlns:a16="http://schemas.microsoft.com/office/drawing/2014/main" id="{BE88777D-2ED7-9F14-67CA-D58A44773C73}"/>
              </a:ext>
            </a:extLst>
          </p:cNvPr>
          <p:cNvSpPr txBox="1">
            <a:spLocks noGrp="1"/>
          </p:cNvSpPr>
          <p:nvPr>
            <p:ph type="title"/>
          </p:nvPr>
        </p:nvSpPr>
        <p:spPr>
          <a:xfrm>
            <a:off x="0" y="993089"/>
            <a:ext cx="9144000" cy="53713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Cambria"/>
                <a:ea typeface="Cambria"/>
                <a:cs typeface="Cambria"/>
                <a:sym typeface="Cambria"/>
              </a:rPr>
              <a:t>Algorithms</a:t>
            </a:r>
            <a:endParaRPr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DE44F955-694D-C190-4075-76B8FC86CA5E}"/>
              </a:ext>
            </a:extLst>
          </p:cNvPr>
          <p:cNvPicPr preferRelativeResize="0"/>
          <p:nvPr/>
        </p:nvPicPr>
        <p:blipFill rotWithShape="1">
          <a:blip r:embed="rId2">
            <a:alphaModFix/>
          </a:blip>
          <a:srcRect/>
          <a:stretch/>
        </p:blipFill>
        <p:spPr>
          <a:xfrm>
            <a:off x="48518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5EAB07B0-3B57-83D8-8460-C92145498E16}"/>
              </a:ext>
            </a:extLst>
          </p:cNvPr>
          <p:cNvSpPr txBox="1"/>
          <p:nvPr/>
        </p:nvSpPr>
        <p:spPr>
          <a:xfrm>
            <a:off x="559836" y="55924"/>
            <a:ext cx="6212461"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EFE0BF11-E648-FCD4-9213-14C2FC4A2ADF}"/>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BAA936BB-166B-F1EF-4B73-7771C7AF26AD}"/>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
        <p:nvSpPr>
          <p:cNvPr id="10" name="TextBox 9">
            <a:extLst>
              <a:ext uri="{FF2B5EF4-FFF2-40B4-BE49-F238E27FC236}">
                <a16:creationId xmlns:a16="http://schemas.microsoft.com/office/drawing/2014/main" id="{BC1AD0A8-47DE-0322-F78D-4926BDF621B8}"/>
              </a:ext>
            </a:extLst>
          </p:cNvPr>
          <p:cNvSpPr txBox="1"/>
          <p:nvPr/>
        </p:nvSpPr>
        <p:spPr>
          <a:xfrm>
            <a:off x="485189" y="1744824"/>
            <a:ext cx="8042991" cy="4278094"/>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rPr>
              <a:t>Simple Mail Transfer Protocol (SMTP):</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Facilitates Secure Communication:</a:t>
            </a:r>
            <a:r>
              <a:rPr lang="en-US" sz="1600" dirty="0">
                <a:latin typeface="Times New Roman" panose="02020603050405020304" pitchFamily="18" charset="0"/>
                <a:cs typeface="Times New Roman" panose="02020603050405020304" pitchFamily="18" charset="0"/>
              </a:rPr>
              <a:t> SMTP plays a crucial role in facilitating secure communication between computers and smartphones, serving as the backbone for transmitting messages efficiently and securely.</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Key Exchange and Authentication:</a:t>
            </a:r>
            <a:r>
              <a:rPr lang="en-US" sz="1600" dirty="0">
                <a:latin typeface="Times New Roman" panose="02020603050405020304" pitchFamily="18" charset="0"/>
                <a:cs typeface="Times New Roman" panose="02020603050405020304" pitchFamily="18" charset="0"/>
              </a:rPr>
              <a:t> SMTP is utilized for key exchange and receiving login details, ensuring secure authentication and enabling businesses to securely access their email accounts and communicate with their networks.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Ease of Configuration:</a:t>
            </a:r>
            <a:r>
              <a:rPr lang="en-US" sz="1600" dirty="0">
                <a:latin typeface="Times New Roman" panose="02020603050405020304" pitchFamily="18" charset="0"/>
                <a:cs typeface="Times New Roman" panose="02020603050405020304" pitchFamily="18" charset="0"/>
              </a:rPr>
              <a:t> Setting up SMTP involves gathering essential information such as host name, port, SSL authentication details, and account credentials, followed by configuring SMTP settings, making it easy for businesses to establish reliable email communication channels.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Reliability and Compatibility:</a:t>
            </a:r>
            <a:r>
              <a:rPr lang="en-US" sz="1600" dirty="0">
                <a:latin typeface="Times New Roman" panose="02020603050405020304" pitchFamily="18" charset="0"/>
                <a:cs typeface="Times New Roman" panose="02020603050405020304" pitchFamily="18" charset="0"/>
              </a:rPr>
              <a:t> Leveraging SMTP for email communication offers reliability, efficiency, and compatibility, allowing businesses to effectively convey information, engage with their audience, and conduct email marketing campaigns with ease and confidence.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452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9DB6-1417-2B11-A563-537DFB2772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0B1C29-D015-3CC3-DAD2-AB200FA2D0C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26</a:t>
            </a:fld>
            <a:endParaRPr/>
          </a:p>
        </p:txBody>
      </p:sp>
      <p:sp>
        <p:nvSpPr>
          <p:cNvPr id="5" name="Google Shape;187;p9">
            <a:extLst>
              <a:ext uri="{FF2B5EF4-FFF2-40B4-BE49-F238E27FC236}">
                <a16:creationId xmlns:a16="http://schemas.microsoft.com/office/drawing/2014/main" id="{BE88777D-2ED7-9F14-67CA-D58A44773C73}"/>
              </a:ext>
            </a:extLst>
          </p:cNvPr>
          <p:cNvSpPr txBox="1">
            <a:spLocks noGrp="1"/>
          </p:cNvSpPr>
          <p:nvPr>
            <p:ph type="title"/>
          </p:nvPr>
        </p:nvSpPr>
        <p:spPr>
          <a:xfrm>
            <a:off x="0" y="993089"/>
            <a:ext cx="9144000" cy="53713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Cambria"/>
                <a:ea typeface="Cambria"/>
                <a:cs typeface="Cambria"/>
                <a:sym typeface="Cambria"/>
              </a:rPr>
              <a:t>Algorithms</a:t>
            </a:r>
            <a:endParaRPr sz="3200" b="1" dirty="0">
              <a:solidFill>
                <a:srgbClr val="002060"/>
              </a:solidFill>
              <a:latin typeface="Cambria"/>
              <a:ea typeface="Cambria"/>
              <a:cs typeface="Cambria"/>
              <a:sym typeface="Cambria"/>
            </a:endParaRPr>
          </a:p>
        </p:txBody>
      </p:sp>
      <p:pic>
        <p:nvPicPr>
          <p:cNvPr id="2" name="Google Shape;179;g2a788f1400f_0_17" descr="logo.png">
            <a:extLst>
              <a:ext uri="{FF2B5EF4-FFF2-40B4-BE49-F238E27FC236}">
                <a16:creationId xmlns:a16="http://schemas.microsoft.com/office/drawing/2014/main" id="{DE44F955-694D-C190-4075-76B8FC86CA5E}"/>
              </a:ext>
            </a:extLst>
          </p:cNvPr>
          <p:cNvPicPr preferRelativeResize="0"/>
          <p:nvPr/>
        </p:nvPicPr>
        <p:blipFill rotWithShape="1">
          <a:blip r:embed="rId2">
            <a:alphaModFix/>
          </a:blip>
          <a:srcRect/>
          <a:stretch/>
        </p:blipFill>
        <p:spPr>
          <a:xfrm>
            <a:off x="485189" y="-44194"/>
            <a:ext cx="976320" cy="931541"/>
          </a:xfrm>
          <a:prstGeom prst="rect">
            <a:avLst/>
          </a:prstGeom>
          <a:noFill/>
          <a:ln>
            <a:noFill/>
          </a:ln>
        </p:spPr>
      </p:pic>
      <p:sp>
        <p:nvSpPr>
          <p:cNvPr id="6" name="Google Shape;181;g2a788f1400f_0_17">
            <a:extLst>
              <a:ext uri="{FF2B5EF4-FFF2-40B4-BE49-F238E27FC236}">
                <a16:creationId xmlns:a16="http://schemas.microsoft.com/office/drawing/2014/main" id="{5EAB07B0-3B57-83D8-8460-C92145498E16}"/>
              </a:ext>
            </a:extLst>
          </p:cNvPr>
          <p:cNvSpPr txBox="1"/>
          <p:nvPr/>
        </p:nvSpPr>
        <p:spPr>
          <a:xfrm>
            <a:off x="559836" y="55924"/>
            <a:ext cx="6212461"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MATRUSRI ENGINEERING COLLEGE</a:t>
            </a:r>
            <a:endParaRPr dirty="0"/>
          </a:p>
          <a:p>
            <a:pPr marL="0" marR="0" lvl="0" indent="0" algn="ctr" rtl="0">
              <a:spcBef>
                <a:spcPts val="0"/>
              </a:spcBef>
              <a:spcAft>
                <a:spcPts val="0"/>
              </a:spcAft>
              <a:buNone/>
            </a:pPr>
            <a:r>
              <a:rPr lang="en-US" sz="2000" b="1" dirty="0">
                <a:solidFill>
                  <a:srgbClr val="002060"/>
                </a:solidFill>
                <a:latin typeface="Times New Roman"/>
                <a:ea typeface="Times New Roman"/>
                <a:cs typeface="Times New Roman"/>
                <a:sym typeface="Times New Roman"/>
              </a:rPr>
              <a:t>            Department of CSE </a:t>
            </a:r>
            <a:endParaRPr sz="2000" b="1" dirty="0">
              <a:solidFill>
                <a:schemeClr val="dk1"/>
              </a:solidFill>
              <a:latin typeface="Times New Roman"/>
              <a:ea typeface="Times New Roman"/>
              <a:cs typeface="Times New Roman"/>
              <a:sym typeface="Times New Roman"/>
            </a:endParaRPr>
          </a:p>
        </p:txBody>
      </p:sp>
      <p:pic>
        <p:nvPicPr>
          <p:cNvPr id="7" name="Google Shape;180;g2a788f1400f_0_17" descr="NBA LOGO.png">
            <a:extLst>
              <a:ext uri="{FF2B5EF4-FFF2-40B4-BE49-F238E27FC236}">
                <a16:creationId xmlns:a16="http://schemas.microsoft.com/office/drawing/2014/main" id="{EFE0BF11-E648-FCD4-9213-14C2FC4A2ADF}"/>
              </a:ext>
            </a:extLst>
          </p:cNvPr>
          <p:cNvPicPr preferRelativeResize="0"/>
          <p:nvPr/>
        </p:nvPicPr>
        <p:blipFill rotWithShape="1">
          <a:blip r:embed="rId3">
            <a:alphaModFix/>
          </a:blip>
          <a:srcRect/>
          <a:stretch/>
        </p:blipFill>
        <p:spPr>
          <a:xfrm>
            <a:off x="6965939" y="-2386"/>
            <a:ext cx="885825" cy="873621"/>
          </a:xfrm>
          <a:prstGeom prst="rect">
            <a:avLst/>
          </a:prstGeom>
          <a:noFill/>
          <a:ln>
            <a:noFill/>
          </a:ln>
        </p:spPr>
      </p:pic>
      <p:pic>
        <p:nvPicPr>
          <p:cNvPr id="8" name="Google Shape;182;g2a788f1400f_0_17">
            <a:extLst>
              <a:ext uri="{FF2B5EF4-FFF2-40B4-BE49-F238E27FC236}">
                <a16:creationId xmlns:a16="http://schemas.microsoft.com/office/drawing/2014/main" id="{BAA936BB-166B-F1EF-4B73-7771C7AF26AD}"/>
              </a:ext>
            </a:extLst>
          </p:cNvPr>
          <p:cNvPicPr preferRelativeResize="0"/>
          <p:nvPr/>
        </p:nvPicPr>
        <p:blipFill rotWithShape="1">
          <a:blip r:embed="rId4">
            <a:alphaModFix/>
          </a:blip>
          <a:srcRect/>
          <a:stretch/>
        </p:blipFill>
        <p:spPr>
          <a:xfrm>
            <a:off x="8038965" y="-23747"/>
            <a:ext cx="793750" cy="841693"/>
          </a:xfrm>
          <a:prstGeom prst="rect">
            <a:avLst/>
          </a:prstGeom>
          <a:noFill/>
          <a:ln>
            <a:noFill/>
          </a:ln>
        </p:spPr>
      </p:pic>
      <p:sp>
        <p:nvSpPr>
          <p:cNvPr id="10" name="TextBox 9">
            <a:extLst>
              <a:ext uri="{FF2B5EF4-FFF2-40B4-BE49-F238E27FC236}">
                <a16:creationId xmlns:a16="http://schemas.microsoft.com/office/drawing/2014/main" id="{BC1AD0A8-47DE-0322-F78D-4926BDF621B8}"/>
              </a:ext>
            </a:extLst>
          </p:cNvPr>
          <p:cNvSpPr txBox="1"/>
          <p:nvPr/>
        </p:nvSpPr>
        <p:spPr>
          <a:xfrm>
            <a:off x="485189" y="1744824"/>
            <a:ext cx="8042991" cy="4308872"/>
          </a:xfrm>
          <a:prstGeom prst="rect">
            <a:avLst/>
          </a:prstGeom>
          <a:noFill/>
        </p:spPr>
        <p:txBody>
          <a:bodyPr wrap="square" rtlCol="0">
            <a:spAutoFit/>
          </a:bodyPr>
          <a:lstStyle/>
          <a:p>
            <a:pPr algn="just"/>
            <a:r>
              <a:rPr lang="en-US" sz="1800" b="1" dirty="0">
                <a:latin typeface="Times New Roman" panose="02020603050405020304" pitchFamily="18" charset="0"/>
                <a:cs typeface="Times New Roman" panose="02020603050405020304" pitchFamily="18" charset="0"/>
              </a:rPr>
              <a:t>Message Digest 5 (MD5) hashing:</a:t>
            </a:r>
          </a:p>
          <a:p>
            <a:pPr algn="just"/>
            <a:r>
              <a:rPr lang="en-US" sz="1600" dirty="0">
                <a:latin typeface="Times New Roman" panose="02020603050405020304" pitchFamily="18" charset="0"/>
                <a:cs typeface="Times New Roman" panose="02020603050405020304" pitchFamily="18" charset="0"/>
              </a:rPr>
              <a:t>MD5 is a widely used cryptographic hash function that produces a 128-bit hash value. And is commonly used for data integrity checks, digital signature and checksums to verify data integrity.</a:t>
            </a: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Checksum Comparison: </a:t>
            </a:r>
            <a:r>
              <a:rPr lang="en-US" sz="1600" dirty="0">
                <a:latin typeface="Times New Roman" panose="02020603050405020304" pitchFamily="18" charset="0"/>
                <a:cs typeface="Times New Roman" panose="02020603050405020304" pitchFamily="18" charset="0"/>
              </a:rPr>
              <a:t>MD5 generates a fixed-size hash value for input data, which can be compared with a previously calculated MD5 hash of the same data. If the hashes match, it's highly likely that the data hasn't been tampered with. </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Efficiency:</a:t>
            </a:r>
            <a:r>
              <a:rPr lang="en-US" sz="1600" dirty="0">
                <a:latin typeface="Times New Roman" panose="02020603050405020304" pitchFamily="18" charset="0"/>
                <a:cs typeface="Times New Roman" panose="02020603050405020304" pitchFamily="18" charset="0"/>
              </a:rPr>
              <a:t> MD5 is relatively fast and computationally efficient, making it suitable for tasks where quick verification of data integrity is required. </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Vulnerabilities:</a:t>
            </a:r>
            <a:r>
              <a:rPr lang="en-US" sz="1600" dirty="0">
                <a:latin typeface="Times New Roman" panose="02020603050405020304" pitchFamily="18" charset="0"/>
                <a:cs typeface="Times New Roman" panose="02020603050405020304" pitchFamily="18" charset="0"/>
              </a:rPr>
              <a:t> MD5 is susceptible to collision attacks, where different inputs can produce the same hash output. This weakness undermines its reliability for cryptographic purposes and necessitates caution when using it for data integrity verification, especially in security-sensitive applications. </a:t>
            </a:r>
          </a:p>
          <a:p>
            <a:pPr marL="342900" indent="-342900" algn="just">
              <a:buFont typeface="+mj-lt"/>
              <a:buAutoNum type="arabicPeriod"/>
            </a:pPr>
            <a:r>
              <a:rPr lang="en-US" sz="1600" b="1" dirty="0">
                <a:latin typeface="Times New Roman" panose="02020603050405020304" pitchFamily="18" charset="0"/>
                <a:cs typeface="Times New Roman" panose="02020603050405020304" pitchFamily="18" charset="0"/>
              </a:rPr>
              <a:t>Usage:</a:t>
            </a:r>
            <a:r>
              <a:rPr lang="en-US" sz="1600" dirty="0">
                <a:latin typeface="Times New Roman" panose="02020603050405020304" pitchFamily="18" charset="0"/>
                <a:cs typeface="Times New Roman" panose="02020603050405020304" pitchFamily="18" charset="0"/>
              </a:rPr>
              <a:t> MD5 is still used in various applications such as checksums for file verification, integrity checks in version control systems, and as a checksum in integrity verification mechanisms for software distribution.</a:t>
            </a:r>
          </a:p>
        </p:txBody>
      </p:sp>
    </p:spTree>
    <p:extLst>
      <p:ext uri="{BB962C8B-B14F-4D97-AF65-F5344CB8AC3E}">
        <p14:creationId xmlns:p14="http://schemas.microsoft.com/office/powerpoint/2010/main" val="936801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1A0A27-975C-5798-D912-1A0522FACB1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27</a:t>
            </a:fld>
            <a:endParaRPr/>
          </a:p>
        </p:txBody>
      </p:sp>
      <p:sp>
        <p:nvSpPr>
          <p:cNvPr id="5" name="Google Shape;187;p9">
            <a:extLst>
              <a:ext uri="{FF2B5EF4-FFF2-40B4-BE49-F238E27FC236}">
                <a16:creationId xmlns:a16="http://schemas.microsoft.com/office/drawing/2014/main" id="{EF9ABC0A-4AFF-0488-E7FD-6FCC8249AE8D}"/>
              </a:ext>
            </a:extLst>
          </p:cNvPr>
          <p:cNvSpPr txBox="1">
            <a:spLocks noGrp="1"/>
          </p:cNvSpPr>
          <p:nvPr>
            <p:ph type="title"/>
          </p:nvPr>
        </p:nvSpPr>
        <p:spPr>
          <a:xfrm>
            <a:off x="0" y="297656"/>
            <a:ext cx="9144000" cy="605205"/>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dirty="0">
                <a:solidFill>
                  <a:srgbClr val="002060"/>
                </a:solidFill>
                <a:latin typeface="Times New Roman"/>
                <a:ea typeface="Cambria"/>
                <a:cs typeface="Times New Roman"/>
                <a:sym typeface="Times New Roman"/>
              </a:rPr>
              <a:t>Results</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pic>
        <p:nvPicPr>
          <p:cNvPr id="8" name="Picture 7">
            <a:extLst>
              <a:ext uri="{FF2B5EF4-FFF2-40B4-BE49-F238E27FC236}">
                <a16:creationId xmlns:a16="http://schemas.microsoft.com/office/drawing/2014/main" id="{34F97DDF-DF3E-AA94-E7FF-2A6C3A56ACFF}"/>
              </a:ext>
            </a:extLst>
          </p:cNvPr>
          <p:cNvPicPr>
            <a:picLocks noChangeAspect="1"/>
          </p:cNvPicPr>
          <p:nvPr/>
        </p:nvPicPr>
        <p:blipFill>
          <a:blip r:embed="rId2"/>
          <a:stretch>
            <a:fillRect/>
          </a:stretch>
        </p:blipFill>
        <p:spPr>
          <a:xfrm>
            <a:off x="572393" y="1455581"/>
            <a:ext cx="7999214" cy="4499558"/>
          </a:xfrm>
          <a:prstGeom prst="rect">
            <a:avLst/>
          </a:prstGeom>
        </p:spPr>
      </p:pic>
    </p:spTree>
    <p:extLst>
      <p:ext uri="{BB962C8B-B14F-4D97-AF65-F5344CB8AC3E}">
        <p14:creationId xmlns:p14="http://schemas.microsoft.com/office/powerpoint/2010/main" val="347776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C07819-12D7-A772-E56A-904FDA5C0CE7}"/>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28</a:t>
            </a:fld>
            <a:endParaRPr/>
          </a:p>
        </p:txBody>
      </p:sp>
      <p:pic>
        <p:nvPicPr>
          <p:cNvPr id="7" name="Picture 6">
            <a:extLst>
              <a:ext uri="{FF2B5EF4-FFF2-40B4-BE49-F238E27FC236}">
                <a16:creationId xmlns:a16="http://schemas.microsoft.com/office/drawing/2014/main" id="{55671666-7A78-D783-001D-FE127063BE52}"/>
              </a:ext>
            </a:extLst>
          </p:cNvPr>
          <p:cNvPicPr>
            <a:picLocks noChangeAspect="1"/>
          </p:cNvPicPr>
          <p:nvPr/>
        </p:nvPicPr>
        <p:blipFill>
          <a:blip r:embed="rId2"/>
          <a:stretch>
            <a:fillRect/>
          </a:stretch>
        </p:blipFill>
        <p:spPr>
          <a:xfrm>
            <a:off x="1885950" y="1030744"/>
            <a:ext cx="5587870" cy="2771127"/>
          </a:xfrm>
          <a:prstGeom prst="rect">
            <a:avLst/>
          </a:prstGeom>
        </p:spPr>
      </p:pic>
      <p:pic>
        <p:nvPicPr>
          <p:cNvPr id="10" name="Picture 9">
            <a:extLst>
              <a:ext uri="{FF2B5EF4-FFF2-40B4-BE49-F238E27FC236}">
                <a16:creationId xmlns:a16="http://schemas.microsoft.com/office/drawing/2014/main" id="{15D8BA10-E1FA-7811-08A7-87BFAA49CE32}"/>
              </a:ext>
            </a:extLst>
          </p:cNvPr>
          <p:cNvPicPr>
            <a:picLocks noChangeAspect="1"/>
          </p:cNvPicPr>
          <p:nvPr/>
        </p:nvPicPr>
        <p:blipFill>
          <a:blip r:embed="rId3"/>
          <a:stretch>
            <a:fillRect/>
          </a:stretch>
        </p:blipFill>
        <p:spPr>
          <a:xfrm>
            <a:off x="1885949" y="3810003"/>
            <a:ext cx="5587870" cy="2935042"/>
          </a:xfrm>
          <a:prstGeom prst="rect">
            <a:avLst/>
          </a:prstGeom>
        </p:spPr>
      </p:pic>
      <p:sp>
        <p:nvSpPr>
          <p:cNvPr id="11" name="Google Shape;187;p9">
            <a:extLst>
              <a:ext uri="{FF2B5EF4-FFF2-40B4-BE49-F238E27FC236}">
                <a16:creationId xmlns:a16="http://schemas.microsoft.com/office/drawing/2014/main" id="{04E8128E-5D7B-182D-A4F9-D7C60F4812E1}"/>
              </a:ext>
            </a:extLst>
          </p:cNvPr>
          <p:cNvSpPr txBox="1">
            <a:spLocks noGrp="1"/>
          </p:cNvSpPr>
          <p:nvPr>
            <p:ph type="title"/>
          </p:nvPr>
        </p:nvSpPr>
        <p:spPr>
          <a:xfrm>
            <a:off x="0" y="157694"/>
            <a:ext cx="9144000" cy="68206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Admin Login Page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517278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4E7ED9-5181-4BBF-55D7-0439850F4051}"/>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29</a:t>
            </a:fld>
            <a:endParaRPr/>
          </a:p>
        </p:txBody>
      </p:sp>
      <p:pic>
        <p:nvPicPr>
          <p:cNvPr id="8" name="Picture 7">
            <a:extLst>
              <a:ext uri="{FF2B5EF4-FFF2-40B4-BE49-F238E27FC236}">
                <a16:creationId xmlns:a16="http://schemas.microsoft.com/office/drawing/2014/main" id="{09B4B300-A605-B23C-99F3-27ACE9B38285}"/>
              </a:ext>
            </a:extLst>
          </p:cNvPr>
          <p:cNvPicPr>
            <a:picLocks noChangeAspect="1"/>
          </p:cNvPicPr>
          <p:nvPr/>
        </p:nvPicPr>
        <p:blipFill>
          <a:blip r:embed="rId2"/>
          <a:stretch>
            <a:fillRect/>
          </a:stretch>
        </p:blipFill>
        <p:spPr>
          <a:xfrm>
            <a:off x="1095828" y="1371600"/>
            <a:ext cx="6952343" cy="4385388"/>
          </a:xfrm>
          <a:prstGeom prst="rect">
            <a:avLst/>
          </a:prstGeom>
        </p:spPr>
      </p:pic>
      <p:sp>
        <p:nvSpPr>
          <p:cNvPr id="2" name="Google Shape;187;p9">
            <a:extLst>
              <a:ext uri="{FF2B5EF4-FFF2-40B4-BE49-F238E27FC236}">
                <a16:creationId xmlns:a16="http://schemas.microsoft.com/office/drawing/2014/main" id="{9C2503F8-602F-AC3C-BB00-4FB13077264C}"/>
              </a:ext>
            </a:extLst>
          </p:cNvPr>
          <p:cNvSpPr txBox="1">
            <a:spLocks noGrp="1"/>
          </p:cNvSpPr>
          <p:nvPr>
            <p:ph type="title"/>
          </p:nvPr>
        </p:nvSpPr>
        <p:spPr>
          <a:xfrm>
            <a:off x="0" y="297657"/>
            <a:ext cx="9144000" cy="672728"/>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dirty="0">
                <a:solidFill>
                  <a:srgbClr val="002060"/>
                </a:solidFill>
                <a:latin typeface="Times New Roman"/>
                <a:ea typeface="Cambria"/>
                <a:cs typeface="Times New Roman"/>
                <a:sym typeface="Times New Roman"/>
              </a:rPr>
              <a:t>Registration Forms</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860961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5481F8-2939-F4C6-C323-73550105DE53}"/>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30</a:t>
            </a:fld>
            <a:endParaRPr/>
          </a:p>
        </p:txBody>
      </p:sp>
      <p:pic>
        <p:nvPicPr>
          <p:cNvPr id="8" name="Picture 7">
            <a:extLst>
              <a:ext uri="{FF2B5EF4-FFF2-40B4-BE49-F238E27FC236}">
                <a16:creationId xmlns:a16="http://schemas.microsoft.com/office/drawing/2014/main" id="{3FF3D2F2-03A9-76C8-E9F3-DFCD98998027}"/>
              </a:ext>
            </a:extLst>
          </p:cNvPr>
          <p:cNvPicPr>
            <a:picLocks noChangeAspect="1"/>
          </p:cNvPicPr>
          <p:nvPr/>
        </p:nvPicPr>
        <p:blipFill>
          <a:blip r:embed="rId2"/>
          <a:stretch>
            <a:fillRect/>
          </a:stretch>
        </p:blipFill>
        <p:spPr>
          <a:xfrm>
            <a:off x="373224" y="1506285"/>
            <a:ext cx="8313576" cy="4466715"/>
          </a:xfrm>
          <a:prstGeom prst="rect">
            <a:avLst/>
          </a:prstGeom>
        </p:spPr>
      </p:pic>
      <p:sp>
        <p:nvSpPr>
          <p:cNvPr id="2" name="Google Shape;187;p9">
            <a:extLst>
              <a:ext uri="{FF2B5EF4-FFF2-40B4-BE49-F238E27FC236}">
                <a16:creationId xmlns:a16="http://schemas.microsoft.com/office/drawing/2014/main" id="{65E2CDE7-AABC-723C-E728-7F3D0A3E5E49}"/>
              </a:ext>
            </a:extLst>
          </p:cNvPr>
          <p:cNvSpPr txBox="1">
            <a:spLocks noGrp="1"/>
          </p:cNvSpPr>
          <p:nvPr>
            <p:ph type="title"/>
          </p:nvPr>
        </p:nvSpPr>
        <p:spPr>
          <a:xfrm>
            <a:off x="0" y="297657"/>
            <a:ext cx="9144000" cy="700720"/>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Data Owner Registration Form</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303884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9C9CF-374E-63AB-617B-90710A6C7548}"/>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31</a:t>
            </a:fld>
            <a:endParaRPr/>
          </a:p>
        </p:txBody>
      </p:sp>
      <p:pic>
        <p:nvPicPr>
          <p:cNvPr id="6" name="Picture 5">
            <a:extLst>
              <a:ext uri="{FF2B5EF4-FFF2-40B4-BE49-F238E27FC236}">
                <a16:creationId xmlns:a16="http://schemas.microsoft.com/office/drawing/2014/main" id="{E585ADD7-CE82-291A-0153-3CDA7B480BD0}"/>
              </a:ext>
            </a:extLst>
          </p:cNvPr>
          <p:cNvPicPr>
            <a:picLocks noChangeAspect="1"/>
          </p:cNvPicPr>
          <p:nvPr/>
        </p:nvPicPr>
        <p:blipFill>
          <a:blip r:embed="rId2"/>
          <a:stretch>
            <a:fillRect/>
          </a:stretch>
        </p:blipFill>
        <p:spPr>
          <a:xfrm>
            <a:off x="527807" y="1343616"/>
            <a:ext cx="8088386" cy="4208103"/>
          </a:xfrm>
          <a:prstGeom prst="rect">
            <a:avLst/>
          </a:prstGeom>
        </p:spPr>
      </p:pic>
      <p:sp>
        <p:nvSpPr>
          <p:cNvPr id="2" name="Google Shape;187;p9">
            <a:extLst>
              <a:ext uri="{FF2B5EF4-FFF2-40B4-BE49-F238E27FC236}">
                <a16:creationId xmlns:a16="http://schemas.microsoft.com/office/drawing/2014/main" id="{4839E236-2FE3-6976-5B62-A850D58E5B7F}"/>
              </a:ext>
            </a:extLst>
          </p:cNvPr>
          <p:cNvSpPr txBox="1">
            <a:spLocks noGrp="1"/>
          </p:cNvSpPr>
          <p:nvPr>
            <p:ph type="title"/>
          </p:nvPr>
        </p:nvSpPr>
        <p:spPr>
          <a:xfrm>
            <a:off x="0" y="297657"/>
            <a:ext cx="9144000" cy="672728"/>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Data Owner Details in Database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1977821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9C9CF-374E-63AB-617B-90710A6C7548}"/>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32</a:t>
            </a:fld>
            <a:endParaRPr/>
          </a:p>
        </p:txBody>
      </p:sp>
      <p:pic>
        <p:nvPicPr>
          <p:cNvPr id="3" name="Picture 2">
            <a:extLst>
              <a:ext uri="{FF2B5EF4-FFF2-40B4-BE49-F238E27FC236}">
                <a16:creationId xmlns:a16="http://schemas.microsoft.com/office/drawing/2014/main" id="{87CFB64E-C399-18CC-9DA3-324BDBC13725}"/>
              </a:ext>
            </a:extLst>
          </p:cNvPr>
          <p:cNvPicPr>
            <a:picLocks noChangeAspect="1"/>
          </p:cNvPicPr>
          <p:nvPr/>
        </p:nvPicPr>
        <p:blipFill>
          <a:blip r:embed="rId2"/>
          <a:stretch>
            <a:fillRect/>
          </a:stretch>
        </p:blipFill>
        <p:spPr>
          <a:xfrm>
            <a:off x="205129" y="1423919"/>
            <a:ext cx="8733742" cy="4912730"/>
          </a:xfrm>
          <a:prstGeom prst="rect">
            <a:avLst/>
          </a:prstGeom>
        </p:spPr>
      </p:pic>
      <p:sp>
        <p:nvSpPr>
          <p:cNvPr id="5" name="Google Shape;187;p9">
            <a:extLst>
              <a:ext uri="{FF2B5EF4-FFF2-40B4-BE49-F238E27FC236}">
                <a16:creationId xmlns:a16="http://schemas.microsoft.com/office/drawing/2014/main" id="{304FA49F-31EC-F2BD-21A8-BD52AA3AF50B}"/>
              </a:ext>
            </a:extLst>
          </p:cNvPr>
          <p:cNvSpPr txBox="1">
            <a:spLocks noGrp="1"/>
          </p:cNvSpPr>
          <p:nvPr>
            <p:ph type="title"/>
          </p:nvPr>
        </p:nvSpPr>
        <p:spPr>
          <a:xfrm>
            <a:off x="0" y="297657"/>
            <a:ext cx="9144000" cy="598082"/>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Auditor Registration Form</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1402956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9C9CF-374E-63AB-617B-90710A6C7548}"/>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33</a:t>
            </a:fld>
            <a:endParaRPr/>
          </a:p>
        </p:txBody>
      </p:sp>
      <p:pic>
        <p:nvPicPr>
          <p:cNvPr id="2" name="Picture 1">
            <a:extLst>
              <a:ext uri="{FF2B5EF4-FFF2-40B4-BE49-F238E27FC236}">
                <a16:creationId xmlns:a16="http://schemas.microsoft.com/office/drawing/2014/main" id="{783E7D90-91D1-99DA-4121-04460B0AE504}"/>
              </a:ext>
            </a:extLst>
          </p:cNvPr>
          <p:cNvPicPr>
            <a:picLocks noChangeAspect="1"/>
          </p:cNvPicPr>
          <p:nvPr/>
        </p:nvPicPr>
        <p:blipFill>
          <a:blip r:embed="rId2"/>
          <a:stretch>
            <a:fillRect/>
          </a:stretch>
        </p:blipFill>
        <p:spPr>
          <a:xfrm>
            <a:off x="416560" y="1567786"/>
            <a:ext cx="8310880" cy="4217400"/>
          </a:xfrm>
          <a:prstGeom prst="rect">
            <a:avLst/>
          </a:prstGeom>
        </p:spPr>
      </p:pic>
      <p:sp>
        <p:nvSpPr>
          <p:cNvPr id="3" name="Google Shape;187;p9">
            <a:extLst>
              <a:ext uri="{FF2B5EF4-FFF2-40B4-BE49-F238E27FC236}">
                <a16:creationId xmlns:a16="http://schemas.microsoft.com/office/drawing/2014/main" id="{AE303E61-6DB6-E19E-A2BB-DF986816A775}"/>
              </a:ext>
            </a:extLst>
          </p:cNvPr>
          <p:cNvSpPr txBox="1">
            <a:spLocks noGrp="1"/>
          </p:cNvSpPr>
          <p:nvPr>
            <p:ph type="title"/>
          </p:nvPr>
        </p:nvSpPr>
        <p:spPr>
          <a:xfrm>
            <a:off x="0" y="297656"/>
            <a:ext cx="9144000" cy="597875"/>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Auditor Details in Database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705038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F9C9CF-374E-63AB-617B-90710A6C7548}"/>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34</a:t>
            </a:fld>
            <a:endParaRPr/>
          </a:p>
        </p:txBody>
      </p:sp>
      <p:pic>
        <p:nvPicPr>
          <p:cNvPr id="5" name="Picture 4">
            <a:extLst>
              <a:ext uri="{FF2B5EF4-FFF2-40B4-BE49-F238E27FC236}">
                <a16:creationId xmlns:a16="http://schemas.microsoft.com/office/drawing/2014/main" id="{B0362E76-D74A-DE21-4E8B-A3AF72F42ED9}"/>
              </a:ext>
            </a:extLst>
          </p:cNvPr>
          <p:cNvPicPr>
            <a:picLocks noChangeAspect="1"/>
          </p:cNvPicPr>
          <p:nvPr/>
        </p:nvPicPr>
        <p:blipFill>
          <a:blip r:embed="rId2"/>
          <a:stretch>
            <a:fillRect/>
          </a:stretch>
        </p:blipFill>
        <p:spPr>
          <a:xfrm>
            <a:off x="208384" y="1370449"/>
            <a:ext cx="8727232" cy="4909068"/>
          </a:xfrm>
          <a:prstGeom prst="rect">
            <a:avLst/>
          </a:prstGeom>
        </p:spPr>
      </p:pic>
      <p:sp>
        <p:nvSpPr>
          <p:cNvPr id="6" name="Google Shape;187;p9">
            <a:extLst>
              <a:ext uri="{FF2B5EF4-FFF2-40B4-BE49-F238E27FC236}">
                <a16:creationId xmlns:a16="http://schemas.microsoft.com/office/drawing/2014/main" id="{186E1641-1058-2B4C-FB2B-FDA136FE477D}"/>
              </a:ext>
            </a:extLst>
          </p:cNvPr>
          <p:cNvSpPr txBox="1">
            <a:spLocks noGrp="1"/>
          </p:cNvSpPr>
          <p:nvPr>
            <p:ph type="title"/>
          </p:nvPr>
        </p:nvSpPr>
        <p:spPr>
          <a:xfrm>
            <a:off x="0" y="297657"/>
            <a:ext cx="9144000" cy="542098"/>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User Registration Form</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1345529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06855B-9A0D-35A3-1116-E5B55267B616}"/>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35</a:t>
            </a:fld>
            <a:endParaRPr/>
          </a:p>
        </p:txBody>
      </p:sp>
      <p:pic>
        <p:nvPicPr>
          <p:cNvPr id="3" name="Picture 2">
            <a:extLst>
              <a:ext uri="{FF2B5EF4-FFF2-40B4-BE49-F238E27FC236}">
                <a16:creationId xmlns:a16="http://schemas.microsoft.com/office/drawing/2014/main" id="{6115E9EF-7AA7-FFA3-4C22-79D780BCAE19}"/>
              </a:ext>
            </a:extLst>
          </p:cNvPr>
          <p:cNvPicPr>
            <a:picLocks noChangeAspect="1"/>
          </p:cNvPicPr>
          <p:nvPr/>
        </p:nvPicPr>
        <p:blipFill>
          <a:blip r:embed="rId2"/>
          <a:stretch>
            <a:fillRect/>
          </a:stretch>
        </p:blipFill>
        <p:spPr>
          <a:xfrm>
            <a:off x="256592" y="1305113"/>
            <a:ext cx="8630816" cy="4854834"/>
          </a:xfrm>
          <a:prstGeom prst="rect">
            <a:avLst/>
          </a:prstGeom>
        </p:spPr>
      </p:pic>
      <p:sp>
        <p:nvSpPr>
          <p:cNvPr id="5" name="Google Shape;187;p9">
            <a:extLst>
              <a:ext uri="{FF2B5EF4-FFF2-40B4-BE49-F238E27FC236}">
                <a16:creationId xmlns:a16="http://schemas.microsoft.com/office/drawing/2014/main" id="{258FD182-29E9-824C-9B2D-71F7DDF3BD89}"/>
              </a:ext>
            </a:extLst>
          </p:cNvPr>
          <p:cNvSpPr txBox="1">
            <a:spLocks noGrp="1"/>
          </p:cNvSpPr>
          <p:nvPr>
            <p:ph type="title"/>
          </p:nvPr>
        </p:nvSpPr>
        <p:spPr>
          <a:xfrm>
            <a:off x="0" y="297657"/>
            <a:ext cx="9144000" cy="551430"/>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User Details in Database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1281947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06855B-9A0D-35A3-1116-E5B55267B616}"/>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36</a:t>
            </a:fld>
            <a:endParaRPr/>
          </a:p>
        </p:txBody>
      </p:sp>
      <p:pic>
        <p:nvPicPr>
          <p:cNvPr id="5" name="Picture 4">
            <a:extLst>
              <a:ext uri="{FF2B5EF4-FFF2-40B4-BE49-F238E27FC236}">
                <a16:creationId xmlns:a16="http://schemas.microsoft.com/office/drawing/2014/main" id="{E7C23659-BFA4-9F8B-E433-7568EAC576EB}"/>
              </a:ext>
            </a:extLst>
          </p:cNvPr>
          <p:cNvPicPr>
            <a:picLocks noChangeAspect="1"/>
          </p:cNvPicPr>
          <p:nvPr/>
        </p:nvPicPr>
        <p:blipFill>
          <a:blip r:embed="rId2"/>
          <a:stretch>
            <a:fillRect/>
          </a:stretch>
        </p:blipFill>
        <p:spPr>
          <a:xfrm>
            <a:off x="1557532" y="1357996"/>
            <a:ext cx="4815277" cy="5097631"/>
          </a:xfrm>
          <a:prstGeom prst="rect">
            <a:avLst/>
          </a:prstGeom>
        </p:spPr>
      </p:pic>
      <p:sp>
        <p:nvSpPr>
          <p:cNvPr id="6" name="Google Shape;187;p9">
            <a:extLst>
              <a:ext uri="{FF2B5EF4-FFF2-40B4-BE49-F238E27FC236}">
                <a16:creationId xmlns:a16="http://schemas.microsoft.com/office/drawing/2014/main" id="{87D9C4D4-1C8B-1EE9-92DB-F56B560F8BB1}"/>
              </a:ext>
            </a:extLst>
          </p:cNvPr>
          <p:cNvSpPr txBox="1">
            <a:spLocks noGrp="1"/>
          </p:cNvSpPr>
          <p:nvPr>
            <p:ph type="title"/>
          </p:nvPr>
        </p:nvSpPr>
        <p:spPr>
          <a:xfrm>
            <a:off x="0" y="297657"/>
            <a:ext cx="9144000" cy="61674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Received Mails</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066111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C0F904-A3F2-8540-E2B4-33F3F406A9B5}"/>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37</a:t>
            </a:fld>
            <a:endParaRPr/>
          </a:p>
        </p:txBody>
      </p:sp>
      <p:pic>
        <p:nvPicPr>
          <p:cNvPr id="5" name="Picture 4">
            <a:extLst>
              <a:ext uri="{FF2B5EF4-FFF2-40B4-BE49-F238E27FC236}">
                <a16:creationId xmlns:a16="http://schemas.microsoft.com/office/drawing/2014/main" id="{ED93FF5B-F4EF-1D4E-C11E-8EC3DEF00D2C}"/>
              </a:ext>
            </a:extLst>
          </p:cNvPr>
          <p:cNvPicPr>
            <a:picLocks noChangeAspect="1"/>
          </p:cNvPicPr>
          <p:nvPr/>
        </p:nvPicPr>
        <p:blipFill>
          <a:blip r:embed="rId2"/>
          <a:stretch>
            <a:fillRect/>
          </a:stretch>
        </p:blipFill>
        <p:spPr>
          <a:xfrm>
            <a:off x="1804987" y="1332043"/>
            <a:ext cx="5534025" cy="2047875"/>
          </a:xfrm>
          <a:prstGeom prst="rect">
            <a:avLst/>
          </a:prstGeom>
        </p:spPr>
      </p:pic>
      <p:pic>
        <p:nvPicPr>
          <p:cNvPr id="9" name="Picture 8">
            <a:extLst>
              <a:ext uri="{FF2B5EF4-FFF2-40B4-BE49-F238E27FC236}">
                <a16:creationId xmlns:a16="http://schemas.microsoft.com/office/drawing/2014/main" id="{563FAF8C-13C5-589C-165A-3BB35D997658}"/>
              </a:ext>
            </a:extLst>
          </p:cNvPr>
          <p:cNvPicPr>
            <a:picLocks noChangeAspect="1"/>
          </p:cNvPicPr>
          <p:nvPr/>
        </p:nvPicPr>
        <p:blipFill>
          <a:blip r:embed="rId3"/>
          <a:stretch>
            <a:fillRect/>
          </a:stretch>
        </p:blipFill>
        <p:spPr>
          <a:xfrm>
            <a:off x="1743516" y="4129381"/>
            <a:ext cx="5564513" cy="2047875"/>
          </a:xfrm>
          <a:prstGeom prst="rect">
            <a:avLst/>
          </a:prstGeom>
        </p:spPr>
      </p:pic>
      <p:sp>
        <p:nvSpPr>
          <p:cNvPr id="10" name="Google Shape;187;p9">
            <a:extLst>
              <a:ext uri="{FF2B5EF4-FFF2-40B4-BE49-F238E27FC236}">
                <a16:creationId xmlns:a16="http://schemas.microsoft.com/office/drawing/2014/main" id="{02A2E937-F5A7-E17F-7A9B-FF0B89CE2C32}"/>
              </a:ext>
            </a:extLst>
          </p:cNvPr>
          <p:cNvSpPr txBox="1">
            <a:spLocks noGrp="1"/>
          </p:cNvSpPr>
          <p:nvPr>
            <p:ph type="title"/>
          </p:nvPr>
        </p:nvSpPr>
        <p:spPr>
          <a:xfrm>
            <a:off x="0" y="297657"/>
            <a:ext cx="9144000" cy="564845"/>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Data Owner Login and Upload File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030768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4F58EE-BB58-F7D3-CBA9-798B89B31CBD}"/>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38</a:t>
            </a:fld>
            <a:endParaRPr/>
          </a:p>
        </p:txBody>
      </p:sp>
      <p:pic>
        <p:nvPicPr>
          <p:cNvPr id="3" name="Picture 2">
            <a:extLst>
              <a:ext uri="{FF2B5EF4-FFF2-40B4-BE49-F238E27FC236}">
                <a16:creationId xmlns:a16="http://schemas.microsoft.com/office/drawing/2014/main" id="{BF42385F-0131-D166-F312-E044432CF3EC}"/>
              </a:ext>
            </a:extLst>
          </p:cNvPr>
          <p:cNvPicPr>
            <a:picLocks noChangeAspect="1"/>
          </p:cNvPicPr>
          <p:nvPr/>
        </p:nvPicPr>
        <p:blipFill>
          <a:blip r:embed="rId2"/>
          <a:stretch>
            <a:fillRect/>
          </a:stretch>
        </p:blipFill>
        <p:spPr>
          <a:xfrm>
            <a:off x="1170700" y="628233"/>
            <a:ext cx="6648353" cy="3014471"/>
          </a:xfrm>
          <a:prstGeom prst="rect">
            <a:avLst/>
          </a:prstGeom>
        </p:spPr>
      </p:pic>
      <p:pic>
        <p:nvPicPr>
          <p:cNvPr id="7" name="Picture 6">
            <a:extLst>
              <a:ext uri="{FF2B5EF4-FFF2-40B4-BE49-F238E27FC236}">
                <a16:creationId xmlns:a16="http://schemas.microsoft.com/office/drawing/2014/main" id="{83DEE36F-E45D-67C5-22D7-CFAC9EBD1E6C}"/>
              </a:ext>
            </a:extLst>
          </p:cNvPr>
          <p:cNvPicPr>
            <a:picLocks noChangeAspect="1"/>
          </p:cNvPicPr>
          <p:nvPr/>
        </p:nvPicPr>
        <p:blipFill>
          <a:blip r:embed="rId3"/>
          <a:stretch>
            <a:fillRect/>
          </a:stretch>
        </p:blipFill>
        <p:spPr>
          <a:xfrm>
            <a:off x="2018713" y="3736810"/>
            <a:ext cx="5283744" cy="2582637"/>
          </a:xfrm>
          <a:prstGeom prst="rect">
            <a:avLst/>
          </a:prstGeom>
        </p:spPr>
      </p:pic>
      <p:sp>
        <p:nvSpPr>
          <p:cNvPr id="9" name="Google Shape;187;p9">
            <a:extLst>
              <a:ext uri="{FF2B5EF4-FFF2-40B4-BE49-F238E27FC236}">
                <a16:creationId xmlns:a16="http://schemas.microsoft.com/office/drawing/2014/main" id="{8CD7A6A5-067D-00F0-EF71-8788E9342362}"/>
              </a:ext>
            </a:extLst>
          </p:cNvPr>
          <p:cNvSpPr txBox="1">
            <a:spLocks noGrp="1"/>
          </p:cNvSpPr>
          <p:nvPr>
            <p:ph type="title"/>
          </p:nvPr>
        </p:nvSpPr>
        <p:spPr>
          <a:xfrm>
            <a:off x="0" y="297657"/>
            <a:ext cx="9144000" cy="544366"/>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Auditor Login and Check File</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418418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E7887D-6421-4E6A-B7C9-B9BE7DBA9CD6}"/>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39</a:t>
            </a:fld>
            <a:endParaRPr/>
          </a:p>
        </p:txBody>
      </p:sp>
      <p:pic>
        <p:nvPicPr>
          <p:cNvPr id="3" name="Picture 2">
            <a:extLst>
              <a:ext uri="{FF2B5EF4-FFF2-40B4-BE49-F238E27FC236}">
                <a16:creationId xmlns:a16="http://schemas.microsoft.com/office/drawing/2014/main" id="{7BD96E55-76D9-A3B8-4E1D-70D51CDF5D9E}"/>
              </a:ext>
            </a:extLst>
          </p:cNvPr>
          <p:cNvPicPr>
            <a:picLocks noChangeAspect="1"/>
          </p:cNvPicPr>
          <p:nvPr/>
        </p:nvPicPr>
        <p:blipFill>
          <a:blip r:embed="rId2"/>
          <a:stretch>
            <a:fillRect/>
          </a:stretch>
        </p:blipFill>
        <p:spPr>
          <a:xfrm>
            <a:off x="1644814" y="1148735"/>
            <a:ext cx="6162706" cy="2424891"/>
          </a:xfrm>
          <a:prstGeom prst="rect">
            <a:avLst/>
          </a:prstGeom>
        </p:spPr>
      </p:pic>
      <p:pic>
        <p:nvPicPr>
          <p:cNvPr id="7" name="Picture 6">
            <a:extLst>
              <a:ext uri="{FF2B5EF4-FFF2-40B4-BE49-F238E27FC236}">
                <a16:creationId xmlns:a16="http://schemas.microsoft.com/office/drawing/2014/main" id="{4DD0AB93-6746-33D1-31F6-B8854CF38ECC}"/>
              </a:ext>
            </a:extLst>
          </p:cNvPr>
          <p:cNvPicPr>
            <a:picLocks noChangeAspect="1"/>
          </p:cNvPicPr>
          <p:nvPr/>
        </p:nvPicPr>
        <p:blipFill>
          <a:blip r:embed="rId3"/>
          <a:stretch>
            <a:fillRect/>
          </a:stretch>
        </p:blipFill>
        <p:spPr>
          <a:xfrm>
            <a:off x="1644814" y="3803675"/>
            <a:ext cx="6162706" cy="2740334"/>
          </a:xfrm>
          <a:prstGeom prst="rect">
            <a:avLst/>
          </a:prstGeom>
        </p:spPr>
      </p:pic>
      <p:sp>
        <p:nvSpPr>
          <p:cNvPr id="9" name="Google Shape;187;p9">
            <a:extLst>
              <a:ext uri="{FF2B5EF4-FFF2-40B4-BE49-F238E27FC236}">
                <a16:creationId xmlns:a16="http://schemas.microsoft.com/office/drawing/2014/main" id="{530D7217-F1E0-D458-4231-7732B74F4F2D}"/>
              </a:ext>
            </a:extLst>
          </p:cNvPr>
          <p:cNvSpPr txBox="1">
            <a:spLocks noGrp="1"/>
          </p:cNvSpPr>
          <p:nvPr>
            <p:ph type="title"/>
          </p:nvPr>
        </p:nvSpPr>
        <p:spPr>
          <a:xfrm>
            <a:off x="0" y="297656"/>
            <a:ext cx="9144000" cy="542099"/>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User Login and Enter Secret Key</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399749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E7887D-6421-4E6A-B7C9-B9BE7DBA9CD6}"/>
              </a:ext>
            </a:extLst>
          </p:cNvPr>
          <p:cNvSpPr>
            <a:spLocks noGrp="1"/>
          </p:cNvSpPr>
          <p:nvPr>
            <p:ph type="sldNum" idx="12"/>
          </p:nvPr>
        </p:nvSpPr>
        <p:spPr/>
        <p:txBody>
          <a:bodyPr/>
          <a:lstStyle/>
          <a:p>
            <a:pPr marL="0" lvl="0" indent="0" algn="r" rtl="0">
              <a:spcBef>
                <a:spcPts val="0"/>
              </a:spcBef>
              <a:spcAft>
                <a:spcPts val="0"/>
              </a:spcAft>
              <a:buNone/>
            </a:pPr>
            <a:r>
              <a:rPr lang="en-US"/>
              <a:t>1.</a:t>
            </a:r>
            <a:fld id="{00000000-1234-1234-1234-123412341234}" type="slidenum">
              <a:rPr lang="en-US" smtClean="0"/>
              <a:t>40</a:t>
            </a:fld>
            <a:endParaRPr/>
          </a:p>
        </p:txBody>
      </p:sp>
      <p:pic>
        <p:nvPicPr>
          <p:cNvPr id="3" name="Picture 2">
            <a:extLst>
              <a:ext uri="{FF2B5EF4-FFF2-40B4-BE49-F238E27FC236}">
                <a16:creationId xmlns:a16="http://schemas.microsoft.com/office/drawing/2014/main" id="{2AB37C22-F8BB-8634-4129-E6E4EB414D98}"/>
              </a:ext>
            </a:extLst>
          </p:cNvPr>
          <p:cNvPicPr>
            <a:picLocks noChangeAspect="1"/>
          </p:cNvPicPr>
          <p:nvPr/>
        </p:nvPicPr>
        <p:blipFill>
          <a:blip r:embed="rId2"/>
          <a:stretch>
            <a:fillRect/>
          </a:stretch>
        </p:blipFill>
        <p:spPr>
          <a:xfrm>
            <a:off x="415730" y="1314449"/>
            <a:ext cx="8312539" cy="4675803"/>
          </a:xfrm>
          <a:prstGeom prst="rect">
            <a:avLst/>
          </a:prstGeom>
        </p:spPr>
      </p:pic>
      <p:sp>
        <p:nvSpPr>
          <p:cNvPr id="5" name="Google Shape;187;p9">
            <a:extLst>
              <a:ext uri="{FF2B5EF4-FFF2-40B4-BE49-F238E27FC236}">
                <a16:creationId xmlns:a16="http://schemas.microsoft.com/office/drawing/2014/main" id="{9F1873E7-FF4D-48CC-C230-B4C2887143FF}"/>
              </a:ext>
            </a:extLst>
          </p:cNvPr>
          <p:cNvSpPr txBox="1">
            <a:spLocks noGrp="1"/>
          </p:cNvSpPr>
          <p:nvPr>
            <p:ph type="title"/>
          </p:nvPr>
        </p:nvSpPr>
        <p:spPr>
          <a:xfrm>
            <a:off x="0" y="297656"/>
            <a:ext cx="9144000" cy="616743"/>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br>
              <a:rPr lang="en-US" sz="3200" b="1" dirty="0">
                <a:solidFill>
                  <a:srgbClr val="002060"/>
                </a:solidFill>
                <a:latin typeface="Times New Roman"/>
                <a:ea typeface="Cambria"/>
                <a:cs typeface="Times New Roman"/>
                <a:sym typeface="Times New Roman"/>
              </a:rPr>
            </a:br>
            <a:r>
              <a:rPr lang="en-US" sz="3200" b="1" dirty="0">
                <a:solidFill>
                  <a:srgbClr val="002060"/>
                </a:solidFill>
                <a:latin typeface="Times New Roman"/>
                <a:ea typeface="Cambria"/>
                <a:cs typeface="Times New Roman"/>
                <a:sym typeface="Times New Roman"/>
              </a:rPr>
              <a:t>Delete Users</a:t>
            </a:r>
            <a:br>
              <a:rPr lang="en-US" sz="3200" b="1" dirty="0">
                <a:solidFill>
                  <a:srgbClr val="002060"/>
                </a:solidFill>
                <a:latin typeface="Times New Roman"/>
                <a:ea typeface="Cambria"/>
                <a:cs typeface="Times New Roman"/>
                <a:sym typeface="Times New Roman"/>
              </a:rPr>
            </a:br>
            <a:endParaRPr sz="3200" b="1" dirty="0">
              <a:solidFill>
                <a:srgbClr val="002060"/>
              </a:solidFill>
              <a:latin typeface="Cambria"/>
              <a:ea typeface="Cambria"/>
              <a:cs typeface="Cambria"/>
              <a:sym typeface="Cambria"/>
            </a:endParaRPr>
          </a:p>
        </p:txBody>
      </p:sp>
    </p:spTree>
    <p:extLst>
      <p:ext uri="{BB962C8B-B14F-4D97-AF65-F5344CB8AC3E}">
        <p14:creationId xmlns:p14="http://schemas.microsoft.com/office/powerpoint/2010/main" val="1062794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9"/>
          <p:cNvSpPr txBox="1">
            <a:spLocks noGrp="1"/>
          </p:cNvSpPr>
          <p:nvPr>
            <p:ph type="ctrTitle"/>
          </p:nvPr>
        </p:nvSpPr>
        <p:spPr>
          <a:xfrm>
            <a:off x="0" y="871011"/>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dirty="0">
                <a:latin typeface="Times New Roman"/>
                <a:ea typeface="Times New Roman"/>
                <a:cs typeface="Times New Roman"/>
                <a:sym typeface="Times New Roman"/>
              </a:rPr>
              <a:t>Conclusion</a:t>
            </a:r>
            <a:endParaRPr sz="3200" b="1" dirty="0">
              <a:solidFill>
                <a:srgbClr val="002060"/>
              </a:solidFill>
              <a:latin typeface="Cambria"/>
              <a:ea typeface="Cambria"/>
              <a:cs typeface="Cambria"/>
              <a:sym typeface="Cambria"/>
            </a:endParaRPr>
          </a:p>
        </p:txBody>
      </p:sp>
      <p:pic>
        <p:nvPicPr>
          <p:cNvPr id="188" name="Google Shape;188;p9" descr="logo.png"/>
          <p:cNvPicPr preferRelativeResize="0"/>
          <p:nvPr/>
        </p:nvPicPr>
        <p:blipFill rotWithShape="1">
          <a:blip r:embed="rId3">
            <a:alphaModFix/>
          </a:blip>
          <a:srcRect/>
          <a:stretch/>
        </p:blipFill>
        <p:spPr>
          <a:xfrm>
            <a:off x="55985" y="-67168"/>
            <a:ext cx="976320" cy="846855"/>
          </a:xfrm>
          <a:prstGeom prst="rect">
            <a:avLst/>
          </a:prstGeom>
          <a:noFill/>
          <a:ln>
            <a:noFill/>
          </a:ln>
        </p:spPr>
      </p:pic>
      <p:pic>
        <p:nvPicPr>
          <p:cNvPr id="189" name="Google Shape;189;p9" descr="NBA LOGO.png"/>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90" name="Google Shape;190;p9"/>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                     MATRUSRI ENGINEERING COLLEGE</a:t>
            </a:r>
            <a:endParaRPr/>
          </a:p>
          <a:p>
            <a:pPr marL="0" marR="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            Department of CSE </a:t>
            </a:r>
            <a:endParaRPr sz="2000" b="1">
              <a:solidFill>
                <a:schemeClr val="dk1"/>
              </a:solidFill>
              <a:latin typeface="Times New Roman"/>
              <a:ea typeface="Times New Roman"/>
              <a:cs typeface="Times New Roman"/>
              <a:sym typeface="Times New Roman"/>
            </a:endParaRPr>
          </a:p>
        </p:txBody>
      </p:sp>
      <p:pic>
        <p:nvPicPr>
          <p:cNvPr id="191" name="Google Shape;191;p9"/>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3" name="TextBox 2">
            <a:extLst>
              <a:ext uri="{FF2B5EF4-FFF2-40B4-BE49-F238E27FC236}">
                <a16:creationId xmlns:a16="http://schemas.microsoft.com/office/drawing/2014/main" id="{BCCBE868-4FE9-BAF1-6D72-B415EB113F1D}"/>
              </a:ext>
            </a:extLst>
          </p:cNvPr>
          <p:cNvSpPr txBox="1"/>
          <p:nvPr/>
        </p:nvSpPr>
        <p:spPr>
          <a:xfrm>
            <a:off x="359734" y="1239439"/>
            <a:ext cx="8275241" cy="5039456"/>
          </a:xfrm>
          <a:prstGeom prst="rect">
            <a:avLst/>
          </a:prstGeom>
          <a:noFill/>
        </p:spPr>
        <p:txBody>
          <a:bodyPr wrap="square">
            <a:spAutoFit/>
          </a:bodyPr>
          <a:lstStyle/>
          <a:p>
            <a:pPr marL="342900" marR="0" indent="-342900" algn="just">
              <a:lnSpc>
                <a:spcPct val="115000"/>
              </a:lnSpc>
              <a:spcBef>
                <a:spcPts val="0"/>
              </a:spcBef>
              <a:spcAft>
                <a:spcPts val="800"/>
              </a:spcAft>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indent="-342900" algn="just">
              <a:lnSpc>
                <a:spcPct val="115000"/>
              </a:lnSpc>
              <a:spcBef>
                <a:spcPts val="0"/>
              </a:spcBef>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the rapidly evolving landscape of cloud computing, the proposed privacy preserving mechanism stands as a pivotal advancement in fortifying the security of shared data.</a:t>
            </a:r>
          </a:p>
          <a:p>
            <a:pPr marL="342900" marR="0" indent="-342900" algn="just">
              <a:lnSpc>
                <a:spcPct val="115000"/>
              </a:lnSpc>
              <a:spcBef>
                <a:spcPts val="0"/>
              </a:spcBef>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proposed mechanism implements cutting-edge cryptographic techniques to enhance data security in cloud computing. </a:t>
            </a:r>
          </a:p>
          <a:p>
            <a:pPr marL="342900" marR="0" indent="-342900" algn="just">
              <a:lnSpc>
                <a:spcPct val="115000"/>
              </a:lnSpc>
              <a:spcBef>
                <a:spcPts val="0"/>
              </a:spcBef>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integration of innovative cryptographic techniques ensures a heightened level of security, mitigating the risk of identity privacy leakage that has been a prevalent concern in existing mechanisms.</a:t>
            </a:r>
          </a:p>
          <a:p>
            <a:pPr marL="342900" marR="0" indent="-342900" algn="just">
              <a:lnSpc>
                <a:spcPct val="115000"/>
              </a:lnSpc>
              <a:spcBef>
                <a:spcPts val="0"/>
              </a:spcBef>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essence, the proposed mechanism not only meets the current demands for secure shared data but also lays the groundwork for an adaptive and forward-thinking solution that anticipates and addresses the evolving challenges in cloud-based information management.</a:t>
            </a:r>
          </a:p>
          <a:p>
            <a:pPr marL="342900" marR="0" indent="-342900" algn="just">
              <a:lnSpc>
                <a:spcPct val="115000"/>
              </a:lnSpc>
              <a:spcBef>
                <a:spcPts val="0"/>
              </a:spcBef>
              <a:spcAft>
                <a:spcPts val="800"/>
              </a:spcAft>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BCC787F9-6460-103C-58CA-D8FEA1A86D48}"/>
            </a:ext>
          </a:extLst>
        </p:cNvPr>
        <p:cNvGrpSpPr/>
        <p:nvPr/>
      </p:nvGrpSpPr>
      <p:grpSpPr>
        <a:xfrm>
          <a:off x="0" y="0"/>
          <a:ext cx="0" cy="0"/>
          <a:chOff x="0" y="0"/>
          <a:chExt cx="0" cy="0"/>
        </a:xfrm>
      </p:grpSpPr>
      <p:sp>
        <p:nvSpPr>
          <p:cNvPr id="187" name="Google Shape;187;p9">
            <a:extLst>
              <a:ext uri="{FF2B5EF4-FFF2-40B4-BE49-F238E27FC236}">
                <a16:creationId xmlns:a16="http://schemas.microsoft.com/office/drawing/2014/main" id="{A2A31808-E3B3-8446-55D5-783A31B931A9}"/>
              </a:ext>
            </a:extLst>
          </p:cNvPr>
          <p:cNvSpPr txBox="1">
            <a:spLocks noGrp="1"/>
          </p:cNvSpPr>
          <p:nvPr>
            <p:ph type="ctrTitle"/>
          </p:nvPr>
        </p:nvSpPr>
        <p:spPr>
          <a:xfrm>
            <a:off x="0" y="871011"/>
            <a:ext cx="9144000" cy="576064"/>
          </a:xfrm>
          <a:prstGeom prst="rect">
            <a:avLst/>
          </a:prstGeom>
          <a:solidFill>
            <a:srgbClr val="B2A0C7"/>
          </a:solid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sz="3200" b="1" dirty="0">
                <a:solidFill>
                  <a:srgbClr val="002060"/>
                </a:solidFill>
                <a:latin typeface="Times New Roman"/>
                <a:ea typeface="Cambria"/>
                <a:cs typeface="Times New Roman"/>
                <a:sym typeface="Times New Roman"/>
              </a:rPr>
              <a:t>References</a:t>
            </a:r>
            <a:endParaRPr sz="3200" b="1" dirty="0">
              <a:solidFill>
                <a:srgbClr val="002060"/>
              </a:solidFill>
              <a:latin typeface="Cambria"/>
              <a:ea typeface="Cambria"/>
              <a:cs typeface="Cambria"/>
              <a:sym typeface="Cambria"/>
            </a:endParaRPr>
          </a:p>
        </p:txBody>
      </p:sp>
      <p:pic>
        <p:nvPicPr>
          <p:cNvPr id="188" name="Google Shape;188;p9" descr="logo.png">
            <a:extLst>
              <a:ext uri="{FF2B5EF4-FFF2-40B4-BE49-F238E27FC236}">
                <a16:creationId xmlns:a16="http://schemas.microsoft.com/office/drawing/2014/main" id="{FECA06C6-174B-3414-6D29-1BE19B0F0B76}"/>
              </a:ext>
            </a:extLst>
          </p:cNvPr>
          <p:cNvPicPr preferRelativeResize="0"/>
          <p:nvPr/>
        </p:nvPicPr>
        <p:blipFill rotWithShape="1">
          <a:blip r:embed="rId3">
            <a:alphaModFix/>
          </a:blip>
          <a:srcRect/>
          <a:stretch/>
        </p:blipFill>
        <p:spPr>
          <a:xfrm>
            <a:off x="55985" y="-67168"/>
            <a:ext cx="976320" cy="846855"/>
          </a:xfrm>
          <a:prstGeom prst="rect">
            <a:avLst/>
          </a:prstGeom>
          <a:noFill/>
          <a:ln>
            <a:noFill/>
          </a:ln>
        </p:spPr>
      </p:pic>
      <p:pic>
        <p:nvPicPr>
          <p:cNvPr id="189" name="Google Shape;189;p9" descr="NBA LOGO.png">
            <a:extLst>
              <a:ext uri="{FF2B5EF4-FFF2-40B4-BE49-F238E27FC236}">
                <a16:creationId xmlns:a16="http://schemas.microsoft.com/office/drawing/2014/main" id="{4B3C75AD-5321-C856-0DDE-C61F38D933D3}"/>
              </a:ext>
            </a:extLst>
          </p:cNvPr>
          <p:cNvPicPr preferRelativeResize="0"/>
          <p:nvPr/>
        </p:nvPicPr>
        <p:blipFill rotWithShape="1">
          <a:blip r:embed="rId4">
            <a:alphaModFix/>
          </a:blip>
          <a:srcRect/>
          <a:stretch/>
        </p:blipFill>
        <p:spPr>
          <a:xfrm>
            <a:off x="6965939" y="0"/>
            <a:ext cx="885825" cy="794201"/>
          </a:xfrm>
          <a:prstGeom prst="rect">
            <a:avLst/>
          </a:prstGeom>
          <a:noFill/>
          <a:ln>
            <a:noFill/>
          </a:ln>
        </p:spPr>
      </p:pic>
      <p:sp>
        <p:nvSpPr>
          <p:cNvPr id="190" name="Google Shape;190;p9">
            <a:extLst>
              <a:ext uri="{FF2B5EF4-FFF2-40B4-BE49-F238E27FC236}">
                <a16:creationId xmlns:a16="http://schemas.microsoft.com/office/drawing/2014/main" id="{F0B6E71F-C266-D35E-02BD-D9DAA8D9873F}"/>
              </a:ext>
            </a:extLst>
          </p:cNvPr>
          <p:cNvSpPr txBox="1"/>
          <p:nvPr/>
        </p:nvSpPr>
        <p:spPr>
          <a:xfrm>
            <a:off x="467543" y="91324"/>
            <a:ext cx="6500641"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                     MATRUSRI ENGINEERING COLLEGE</a:t>
            </a:r>
            <a:endParaRPr/>
          </a:p>
          <a:p>
            <a:pPr marL="0" marR="0" lvl="0" indent="0" algn="ctr" rtl="0">
              <a:spcBef>
                <a:spcPts val="0"/>
              </a:spcBef>
              <a:spcAft>
                <a:spcPts val="0"/>
              </a:spcAft>
              <a:buNone/>
            </a:pPr>
            <a:r>
              <a:rPr lang="en-US" sz="2000" b="1">
                <a:solidFill>
                  <a:srgbClr val="002060"/>
                </a:solidFill>
                <a:latin typeface="Times New Roman"/>
                <a:ea typeface="Times New Roman"/>
                <a:cs typeface="Times New Roman"/>
                <a:sym typeface="Times New Roman"/>
              </a:rPr>
              <a:t>            Department of CSE </a:t>
            </a:r>
            <a:endParaRPr sz="2000" b="1">
              <a:solidFill>
                <a:schemeClr val="dk1"/>
              </a:solidFill>
              <a:latin typeface="Times New Roman"/>
              <a:ea typeface="Times New Roman"/>
              <a:cs typeface="Times New Roman"/>
              <a:sym typeface="Times New Roman"/>
            </a:endParaRPr>
          </a:p>
        </p:txBody>
      </p:sp>
      <p:pic>
        <p:nvPicPr>
          <p:cNvPr id="191" name="Google Shape;191;p9">
            <a:extLst>
              <a:ext uri="{FF2B5EF4-FFF2-40B4-BE49-F238E27FC236}">
                <a16:creationId xmlns:a16="http://schemas.microsoft.com/office/drawing/2014/main" id="{F3D8FA08-4CB1-2770-61F1-35A67BFEC311}"/>
              </a:ext>
            </a:extLst>
          </p:cNvPr>
          <p:cNvPicPr preferRelativeResize="0"/>
          <p:nvPr/>
        </p:nvPicPr>
        <p:blipFill rotWithShape="1">
          <a:blip r:embed="rId5">
            <a:alphaModFix/>
          </a:blip>
          <a:srcRect/>
          <a:stretch/>
        </p:blipFill>
        <p:spPr>
          <a:xfrm>
            <a:off x="8038965" y="14512"/>
            <a:ext cx="793750" cy="765175"/>
          </a:xfrm>
          <a:prstGeom prst="rect">
            <a:avLst/>
          </a:prstGeom>
          <a:noFill/>
          <a:ln>
            <a:noFill/>
          </a:ln>
        </p:spPr>
      </p:pic>
      <p:sp>
        <p:nvSpPr>
          <p:cNvPr id="4" name="TextBox 3">
            <a:extLst>
              <a:ext uri="{FF2B5EF4-FFF2-40B4-BE49-F238E27FC236}">
                <a16:creationId xmlns:a16="http://schemas.microsoft.com/office/drawing/2014/main" id="{571EC732-B141-F6F6-BB14-3D111D16B3A3}"/>
              </a:ext>
            </a:extLst>
          </p:cNvPr>
          <p:cNvSpPr txBox="1"/>
          <p:nvPr/>
        </p:nvSpPr>
        <p:spPr>
          <a:xfrm>
            <a:off x="467543" y="1632858"/>
            <a:ext cx="8060637" cy="4727320"/>
          </a:xfrm>
          <a:prstGeom prst="rect">
            <a:avLst/>
          </a:prstGeom>
          <a:noFill/>
        </p:spPr>
        <p:txBody>
          <a:bodyPr wrap="square" rtlCol="0">
            <a:spAutoFit/>
          </a:bodyPr>
          <a:lstStyle/>
          <a:p>
            <a:pPr marL="342900" lvl="0" indent="-342900" algn="just">
              <a:lnSpc>
                <a:spcPct val="115000"/>
              </a:lnSpc>
              <a:spcAft>
                <a:spcPts val="800"/>
              </a:spcAft>
              <a:buFont typeface="Wingdings" panose="05000000000000000000" pitchFamily="2" charset="2"/>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[1]. J. Yu, K. Ren, C. Wang, and V. Varadharajan, “Enabling cloud storage auditing with key-exposure resistance,” Information Forensics and Security, IEEE Transactions on, vol. 10, no. 6, pp. 1167–1179, 2015.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[2]. R. S. Bali and N. Kumar, “Secure clustering for efficient data dissemination in vehicular cyberphysical systems,” Future Generation Computer Systems, pp. 476–492, 2016.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[3]. S. Zarandioon, D. D. Yao, and V. Ganapathy, “K2c: Cryptographic cloud storage with lazy revocation and anonymous access,” in International Conference on Security and Privacy in Communication Systems. Springer, 2011, pp. 59–76.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[4]. C. Wang, Q. Wang, K. Ren, and W. Lou, “Privacy-preserving public auditing for data storage security in cloud computing,” in 2010 proceedings ieee infocom. IEEE, 2010, pp. 1–9.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[5]. M. Ali, R. Dhamotharan, E. Khan, S. Khan, A. Vasilakos, K. Li, and A. Zomaya, “Sedasc: Secure data sharing in clouds,” IEEE Systems Journal, vol. 11, no. 2, pp. 395–404, 2017.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62740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898</TotalTime>
  <Words>3070</Words>
  <Application>Microsoft Office PowerPoint</Application>
  <PresentationFormat>On-screen Show (4:3)</PresentationFormat>
  <Paragraphs>331</Paragraphs>
  <Slides>42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Cambria</vt:lpstr>
      <vt:lpstr>Times New Roman</vt:lpstr>
      <vt:lpstr>Wingdings</vt:lpstr>
      <vt:lpstr>Office Theme</vt:lpstr>
      <vt:lpstr>Major Project  Review </vt:lpstr>
      <vt:lpstr>Contents</vt:lpstr>
      <vt:lpstr>Introduction</vt:lpstr>
      <vt:lpstr>Motivation</vt:lpstr>
      <vt:lpstr>PowerPoint Presentation</vt:lpstr>
      <vt:lpstr>PowerPoint Presentation</vt:lpstr>
      <vt:lpstr>Problem Statement</vt:lpstr>
      <vt:lpstr>Literature Survey</vt:lpstr>
      <vt:lpstr>MATRUSRI ENGINEERING COLLEGE             Department of CSE  </vt:lpstr>
      <vt:lpstr>Objectives</vt:lpstr>
      <vt:lpstr> </vt:lpstr>
      <vt:lpstr>PowerPoint Presentation</vt:lpstr>
      <vt:lpstr>PowerPoint Presentation</vt:lpstr>
      <vt:lpstr>System Requirements </vt:lpstr>
      <vt:lpstr>System Architecture </vt:lpstr>
      <vt:lpstr>Use case Diagram </vt:lpstr>
      <vt:lpstr>Class Diagram</vt:lpstr>
      <vt:lpstr>PowerPoint Presentation</vt:lpstr>
      <vt:lpstr>PowerPoint Presentation</vt:lpstr>
      <vt:lpstr>PowerPoint Presentation</vt:lpstr>
      <vt:lpstr>PowerPoint Presentation</vt:lpstr>
      <vt:lpstr>PowerPoint Presentation</vt:lpstr>
      <vt:lpstr>PowerPoint Presentation</vt:lpstr>
      <vt:lpstr>Algorithms</vt:lpstr>
      <vt:lpstr>Algorithms</vt:lpstr>
      <vt:lpstr>Algorithms</vt:lpstr>
      <vt:lpstr> Results </vt:lpstr>
      <vt:lpstr> Admin Login Page </vt:lpstr>
      <vt:lpstr> Registration Forms </vt:lpstr>
      <vt:lpstr> Data Owner Registration Form </vt:lpstr>
      <vt:lpstr> Data Owner Details in Database </vt:lpstr>
      <vt:lpstr> Auditor Registration Form </vt:lpstr>
      <vt:lpstr> Auditor Details in Database </vt:lpstr>
      <vt:lpstr> User Registration Form </vt:lpstr>
      <vt:lpstr> User Details in Database </vt:lpstr>
      <vt:lpstr> Received Mails </vt:lpstr>
      <vt:lpstr> Data Owner Login and Upload File </vt:lpstr>
      <vt:lpstr> Auditor Login and Check File </vt:lpstr>
      <vt:lpstr> User Login and Enter Secret Key </vt:lpstr>
      <vt:lpstr> Delete Users </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Review-1</dc:title>
  <dc:creator>Magda El Zarki</dc:creator>
  <cp:lastModifiedBy>tharun kumar</cp:lastModifiedBy>
  <cp:revision>13</cp:revision>
  <dcterms:created xsi:type="dcterms:W3CDTF">2007-10-02T04:28:17Z</dcterms:created>
  <dcterms:modified xsi:type="dcterms:W3CDTF">2024-06-11T10:39:37Z</dcterms:modified>
</cp:coreProperties>
</file>